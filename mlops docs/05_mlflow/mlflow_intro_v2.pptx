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95" r:id="rId3"/>
    <p:sldId id="457" r:id="rId4"/>
    <p:sldId id="458" r:id="rId5"/>
    <p:sldId id="459" r:id="rId6"/>
    <p:sldId id="460" r:id="rId7"/>
    <p:sldId id="461" r:id="rId8"/>
    <p:sldId id="462" r:id="rId9"/>
    <p:sldId id="463" r:id="rId10"/>
    <p:sldId id="453" r:id="rId11"/>
    <p:sldId id="455" r:id="rId12"/>
    <p:sldId id="454" r:id="rId13"/>
    <p:sldId id="456" r:id="rId14"/>
    <p:sldId id="302" r:id="rId15"/>
    <p:sldId id="314" r:id="rId16"/>
    <p:sldId id="465" r:id="rId17"/>
    <p:sldId id="467" r:id="rId18"/>
    <p:sldId id="468" r:id="rId19"/>
    <p:sldId id="464" r:id="rId20"/>
    <p:sldId id="466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kan" initials="E" lastIdx="1" clrIdx="0">
    <p:extLst>
      <p:ext uri="{19B8F6BF-5375-455C-9EA6-DF929625EA0E}">
        <p15:presenceInfo xmlns:p15="http://schemas.microsoft.com/office/powerpoint/2012/main" userId="S::erkansirin@vbokurumsal.onmicrosoft.com::c73fdef0-986f-43fd-a6d9-7d0fff3324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3E1"/>
    <a:srgbClr val="FFC000"/>
    <a:srgbClr val="EA5252"/>
    <a:srgbClr val="A6A6A6"/>
    <a:srgbClr val="000000"/>
    <a:srgbClr val="414042"/>
    <a:srgbClr val="FF0000"/>
    <a:srgbClr val="4472C4"/>
    <a:srgbClr val="B92126"/>
    <a:srgbClr val="645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84888" autoAdjust="0"/>
  </p:normalViewPr>
  <p:slideViewPr>
    <p:cSldViewPr snapToGrid="0" showGuides="1">
      <p:cViewPr varScale="1">
        <p:scale>
          <a:sx n="93" d="100"/>
          <a:sy n="93" d="100"/>
        </p:scale>
        <p:origin x="12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1DE6D-C89A-41BB-BFF6-12B51AFEA30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1ECAE-20A6-4C4B-889F-2B886EB9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5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track experiments, runs, versions</a:t>
            </a:r>
          </a:p>
          <a:p>
            <a:r>
              <a:rPr lang="en-US" dirty="0"/>
              <a:t>Hard to reproduce models (environments, code, data)</a:t>
            </a:r>
          </a:p>
          <a:p>
            <a:r>
              <a:rPr lang="en-US" dirty="0"/>
              <a:t>No standard for packaging &amp; deploying ML or GenAI apps</a:t>
            </a:r>
          </a:p>
          <a:p>
            <a:r>
              <a:rPr lang="en-US" dirty="0"/>
              <a:t>For GenAI:</a:t>
            </a:r>
          </a:p>
          <a:p>
            <a:r>
              <a:rPr lang="en-US" dirty="0"/>
              <a:t>Prompt drift</a:t>
            </a:r>
          </a:p>
          <a:p>
            <a:r>
              <a:rPr lang="en-US" dirty="0"/>
              <a:t>Model output variability</a:t>
            </a:r>
          </a:p>
          <a:p>
            <a:r>
              <a:rPr lang="en-US" dirty="0"/>
              <a:t>Hard to evaluate LLM quality</a:t>
            </a:r>
          </a:p>
          <a:p>
            <a:r>
              <a:rPr lang="en-US" dirty="0"/>
              <a:t>Lack of traceability inside multi-step agent 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ECAE-20A6-4C4B-889F-2B886EB91B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6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9210D99-5DCB-47AE-A949-536EA77B7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24B6C21-4D0B-499C-AB5B-1D910D699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09B8CA-0B15-4D2C-B154-F06D6E71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3C6C88C-1480-456D-A040-6F666237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EF182A-044A-4489-939F-28639C5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68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CE84604-384D-4D6E-9A80-2359DF55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D9910D-EA4D-4F1F-8FB6-70A28567E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3866E0F-E4CF-4471-91A4-3C779602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8E55F5F-E2FC-42EE-9EA0-997ACB9A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EB1962-2476-47E6-806F-80EDCEE1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675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F7327B3-FC33-4DB9-A550-34714EAD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C8CD1AC-776C-46E8-98CF-34F6C26A1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25090C-8CE6-4D60-829B-770B8AAB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8E4DCD-A22F-4E8F-B5DB-6756CF09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E657C3-A9BD-4F7C-B99A-60C78AB3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31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3BD5063-B358-45BB-8591-D035E2B3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6035B5-0B15-4C42-BD80-B391D0618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6C35344-18C4-4561-A7F1-46029783D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FB770D0-72EB-43D5-A001-8148C589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47743B-EE31-472E-A7B4-D33CFDB0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C2837C-4A39-496D-B0DB-72E78013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064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3633541-9FA1-4C4E-8C16-C2E192DB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11EA1C-E9FD-42E7-9D34-C2F228CE5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4BB9C2F-36D1-443E-9C0A-71C11A7D4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386A9D5-5EDE-467A-B1D1-7D83DCD24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DB2011E-A3D0-42C9-B544-488F7AD8D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3537700-1B3A-4800-BBEA-8D560F4B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D6157B7-7A50-4239-874A-7567C1CE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CAF2059-019D-46EE-BED2-9A1462E7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101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BE396A5-BD27-4AC8-ACD6-A0FB7476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597C1DC-F7D8-4060-BFB8-98028421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A647868-48E1-4377-AA13-E4A1654C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B2213B1-CC67-41CC-A619-1C70339A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582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523AD40-FBD5-45AB-9E40-584EC903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A627E-2D80-424C-AFDE-4B0BF6EB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3A5B42A-0BA9-4529-8AB8-58F9411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385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F142E63-9AFE-4A17-A185-2EA8A456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9A7C38-4D83-48B6-9088-CB858F8A6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1D83722-070A-4FF2-B5A9-94167C808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F628BE8-51FD-4A6C-BD0F-0AEB31DF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A222B64-B650-4F24-BB22-167A52E5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FFBE0F4-EB82-48A7-ACE7-A4A579C7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591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B20E5BF-0104-476A-9DC5-4BE78A2C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F47E10B-DA2C-46ED-B469-8A8492B48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26978FA-94AE-4CB1-B73F-3F60D55BB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A5354E5-E2DD-4820-BC7B-AF251215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BE3DD5-30D8-46C7-ACEF-BA804DA8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83C330F-85E4-4DAD-A139-8B81E0AC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510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3FE91B3-04A9-4937-97F1-A9A5DA65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8966DB9-AD74-4ECE-A9E9-E7DB30BB2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091104-7557-468A-B7DD-B0413F82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962694-D801-4B6A-AF17-E4BE1A63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CD5CF1-04F6-49EE-A0DA-74944812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20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FFFCBE4-40A8-4F81-A2E0-2A4C8513F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B7B3341-DA1F-40D9-97B0-256906709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3EB4511-F96B-40A6-BBE9-7BA54C65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2A07A2-6061-4297-B036-E74AC6D4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C9E4AA4-7B9A-4764-A255-6E296140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785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AB9A354-45B2-467D-8F59-49D35FDB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757AE27-C5DE-473A-8201-D2F343F1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69C257-784D-4202-BAC8-F6C519CE4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971F1-0A24-473E-8A66-D77E329B588E}" type="datetimeFigureOut">
              <a:rPr lang="tr-TR" smtClean="0"/>
              <a:t>29.11.2025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B5651EA-BFBB-4280-9D27-4B5C1983C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292AE7-97A7-43AD-B25F-8A4707536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155EE-29EF-49A7-A705-446F114351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340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anwes.com/podcast/399-finding-time-and-energy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awfulrebel.com/thinking-importan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yriquediscorde.com/2012/09/27/the-70s-you-can-go-your-own-way/" TargetMode="External"/><Relationship Id="rId2" Type="http://schemas.openxmlformats.org/officeDocument/2006/relationships/hyperlink" Target="http://www.lawfulrebel.com/thinking-important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yriquediscorde.com/2012/09/27/the-70s-you-can-go-your-own-way/" TargetMode="External"/><Relationship Id="rId2" Type="http://schemas.openxmlformats.org/officeDocument/2006/relationships/hyperlink" Target="http://www.lawfulrebel.com/thinking-important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app.compendium.com/uploads/user/e7c690e8-6ff9-102a-ac6d-e4aebca50425/5ff89cbc-ea1e-4ab0-b646-877369cad553/File/db1143146969d1d08c338d1fba5a2f8b/stages_of_machine_learning_lifecycle.png" TargetMode="External"/><Relationship Id="rId2" Type="http://schemas.openxmlformats.org/officeDocument/2006/relationships/hyperlink" Target="https://medium.com/ai-in-plain-english/ai-biggest-struggle-yet-no-streamlined-mlops-as-a-service-a4e4b42422a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i-in-plain-english/ai-biggest-struggle-yet-no-streamlined-mlops-as-a-service-a4e4b42422ae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edium.com/ai-in-plain-english/ai-biggest-struggle-yet-no-streamlined-mlops-as-a-service-a4e4b42422a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lflow.org/docs/latest/tracking.html#sftp-server" TargetMode="External"/><Relationship Id="rId3" Type="http://schemas.openxmlformats.org/officeDocument/2006/relationships/image" Target="../media/image15.png"/><Relationship Id="rId7" Type="http://schemas.openxmlformats.org/officeDocument/2006/relationships/hyperlink" Target="https://www.mlflow.org/docs/latest/tracking.html#ftp-server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lflow.org/docs/latest/tracking.html#google-cloud-storage" TargetMode="External"/><Relationship Id="rId5" Type="http://schemas.openxmlformats.org/officeDocument/2006/relationships/hyperlink" Target="https://www.mlflow.org/docs/latest/tracking.html#azure-blob-storage" TargetMode="External"/><Relationship Id="rId10" Type="http://schemas.openxmlformats.org/officeDocument/2006/relationships/hyperlink" Target="https://www.mlflow.org/docs/latest/tracking.html#hdfs" TargetMode="External"/><Relationship Id="rId4" Type="http://schemas.openxmlformats.org/officeDocument/2006/relationships/hyperlink" Target="https://www.mlflow.org/docs/latest/tracking.html#amazon-s3" TargetMode="External"/><Relationship Id="rId9" Type="http://schemas.openxmlformats.org/officeDocument/2006/relationships/hyperlink" Target="https://www.mlflow.org/docs/latest/tracking.html#nf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kdörtgen 3">
            <a:extLst>
              <a:ext uri="{FF2B5EF4-FFF2-40B4-BE49-F238E27FC236}">
                <a16:creationId xmlns:a16="http://schemas.microsoft.com/office/drawing/2014/main" id="{B77C8D09-A0DB-6385-1BA4-35B17C4608AE}"/>
              </a:ext>
            </a:extLst>
          </p:cNvPr>
          <p:cNvSpPr/>
          <p:nvPr/>
        </p:nvSpPr>
        <p:spPr>
          <a:xfrm>
            <a:off x="2390775" y="1563836"/>
            <a:ext cx="7562850" cy="27431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Picture 2" descr="MLflow - A platform for the machine learning lifecycle | MLflow">
            <a:extLst>
              <a:ext uri="{FF2B5EF4-FFF2-40B4-BE49-F238E27FC236}">
                <a16:creationId xmlns:a16="http://schemas.microsoft.com/office/drawing/2014/main" id="{61A5C735-CC41-DF36-6B1B-7DDA5B62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1559074"/>
            <a:ext cx="756285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5B6AB0-679F-4B4E-8262-F6461C87A6FB}"/>
              </a:ext>
            </a:extLst>
          </p:cNvPr>
          <p:cNvSpPr txBox="1"/>
          <p:nvPr/>
        </p:nvSpPr>
        <p:spPr>
          <a:xfrm>
            <a:off x="2963825" y="4423996"/>
            <a:ext cx="60977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 err="1">
                <a:solidFill>
                  <a:srgbClr val="0193E1"/>
                </a:solidFill>
                <a:effectLst/>
                <a:latin typeface="Source Sans Pro" panose="020B0503030403020204" pitchFamily="34" charset="0"/>
              </a:rPr>
              <a:t>MLflow</a:t>
            </a:r>
            <a:r>
              <a:rPr lang="en-US" sz="2800" b="1" i="0" dirty="0">
                <a:solidFill>
                  <a:srgbClr val="0193E1"/>
                </a:solidFill>
                <a:effectLst/>
                <a:latin typeface="Source Sans Pro" panose="020B0503030403020204" pitchFamily="34" charset="0"/>
              </a:rPr>
              <a:t> 3.x: Unified Platform for ML &amp; GenAI Lifecycle</a:t>
            </a:r>
            <a:endParaRPr lang="tr-TR" sz="2800" b="1" dirty="0">
              <a:solidFill>
                <a:srgbClr val="0193E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49EE4-34F7-C3F2-7CC7-D74510192E14}"/>
              </a:ext>
            </a:extLst>
          </p:cNvPr>
          <p:cNvSpPr txBox="1"/>
          <p:nvPr/>
        </p:nvSpPr>
        <p:spPr>
          <a:xfrm>
            <a:off x="3205018" y="54903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“From Traditional Machine Learning to LLMs, Agents, and Prompt Engineering”</a:t>
            </a:r>
          </a:p>
        </p:txBody>
      </p:sp>
    </p:spTree>
    <p:extLst>
      <p:ext uri="{BB962C8B-B14F-4D97-AF65-F5344CB8AC3E}">
        <p14:creationId xmlns:p14="http://schemas.microsoft.com/office/powerpoint/2010/main" val="291821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6FEA3D8C-3FB7-4511-96E3-073EBD337C2D}"/>
              </a:ext>
            </a:extLst>
          </p:cNvPr>
          <p:cNvSpPr txBox="1"/>
          <p:nvPr/>
        </p:nvSpPr>
        <p:spPr>
          <a:xfrm>
            <a:off x="6253017" y="1273534"/>
            <a:ext cx="48841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romatica" panose="00000500000000000000" pitchFamily="50" charset="-94"/>
              </a:rPr>
              <a:t>Developing machine learning applications is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much more than just finding accuracy </a:t>
            </a:r>
            <a:r>
              <a:rPr lang="en-US" sz="2400" b="1" dirty="0">
                <a:latin typeface="Chromatica" panose="00000500000000000000" pitchFamily="50" charset="-94"/>
              </a:rPr>
              <a:t>and is a more complex task than it seems.</a:t>
            </a:r>
            <a:endParaRPr lang="tr-TR" sz="2400" b="1" dirty="0">
              <a:latin typeface="Chromatica" panose="00000500000000000000" pitchFamily="50" charset="-94"/>
            </a:endParaRPr>
          </a:p>
        </p:txBody>
      </p:sp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ML/AI Things</a:t>
            </a:r>
          </a:p>
        </p:txBody>
      </p:sp>
      <p:pic>
        <p:nvPicPr>
          <p:cNvPr id="2050" name="Picture 2" descr="How Can We Tell The Difference Between a Challenging Objective and  Unattainable One?">
            <a:extLst>
              <a:ext uri="{FF2B5EF4-FFF2-40B4-BE49-F238E27FC236}">
                <a16:creationId xmlns:a16="http://schemas.microsoft.com/office/drawing/2014/main" id="{21A950AD-89C0-5A17-4C04-1555DACD84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0" t="14375" r="14833" b="7034"/>
          <a:stretch/>
        </p:blipFill>
        <p:spPr bwMode="auto">
          <a:xfrm>
            <a:off x="6095999" y="3429000"/>
            <a:ext cx="5635283" cy="24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CDA1C-569E-4586-CB65-E4BE1F5DB58E}"/>
              </a:ext>
            </a:extLst>
          </p:cNvPr>
          <p:cNvSpPr txBox="1"/>
          <p:nvPr/>
        </p:nvSpPr>
        <p:spPr>
          <a:xfrm>
            <a:off x="3333750" y="6397882"/>
            <a:ext cx="8858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Image: </a:t>
            </a:r>
            <a:r>
              <a:rPr lang="tr-TR" sz="1200" dirty="0"/>
              <a:t>https://www.synergita.com/blog/okr-management-software/difference-between-a-challenging-objective-and-unattainable-one/</a:t>
            </a:r>
          </a:p>
        </p:txBody>
      </p:sp>
      <p:sp>
        <p:nvSpPr>
          <p:cNvPr id="7" name="Star: 7 Points 6">
            <a:extLst>
              <a:ext uri="{FF2B5EF4-FFF2-40B4-BE49-F238E27FC236}">
                <a16:creationId xmlns:a16="http://schemas.microsoft.com/office/drawing/2014/main" id="{4F1D09C7-DC8E-F518-6421-A13ACCD60943}"/>
              </a:ext>
            </a:extLst>
          </p:cNvPr>
          <p:cNvSpPr/>
          <p:nvPr/>
        </p:nvSpPr>
        <p:spPr>
          <a:xfrm>
            <a:off x="6529973" y="5002239"/>
            <a:ext cx="1404061" cy="861953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C000"/>
                </a:solidFill>
              </a:rPr>
              <a:t>Finding Accuracy</a:t>
            </a:r>
            <a:endParaRPr lang="tr-TR" sz="1200" b="1" dirty="0">
              <a:solidFill>
                <a:srgbClr val="FFC000"/>
              </a:solidFill>
            </a:endParaRPr>
          </a:p>
        </p:txBody>
      </p:sp>
      <p:sp>
        <p:nvSpPr>
          <p:cNvPr id="8" name="Star: 7 Points 7">
            <a:extLst>
              <a:ext uri="{FF2B5EF4-FFF2-40B4-BE49-F238E27FC236}">
                <a16:creationId xmlns:a16="http://schemas.microsoft.com/office/drawing/2014/main" id="{FA520869-50E7-7809-7209-CDC4248D0A84}"/>
              </a:ext>
            </a:extLst>
          </p:cNvPr>
          <p:cNvSpPr/>
          <p:nvPr/>
        </p:nvSpPr>
        <p:spPr>
          <a:xfrm>
            <a:off x="10581851" y="3562311"/>
            <a:ext cx="1297266" cy="861953"/>
          </a:xfrm>
          <a:prstGeom prst="star7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Prod ready ML App</a:t>
            </a:r>
            <a:endParaRPr lang="tr-TR" sz="1200" b="1" dirty="0">
              <a:solidFill>
                <a:schemeClr val="tx1"/>
              </a:solidFill>
            </a:endParaRPr>
          </a:p>
        </p:txBody>
      </p:sp>
      <p:sp>
        <p:nvSpPr>
          <p:cNvPr id="2" name="Metin kutusu 4">
            <a:extLst>
              <a:ext uri="{FF2B5EF4-FFF2-40B4-BE49-F238E27FC236}">
                <a16:creationId xmlns:a16="http://schemas.microsoft.com/office/drawing/2014/main" id="{2396A6DA-DF88-1BA8-17AC-7F9C2478B232}"/>
              </a:ext>
            </a:extLst>
          </p:cNvPr>
          <p:cNvSpPr txBox="1"/>
          <p:nvPr/>
        </p:nvSpPr>
        <p:spPr>
          <a:xfrm>
            <a:off x="460718" y="1403266"/>
            <a:ext cx="521040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MLflow</a:t>
            </a:r>
            <a:r>
              <a:rPr lang="en-US" sz="2200" dirty="0"/>
              <a:t> has evolved significantly beyond classic ML</a:t>
            </a:r>
          </a:p>
          <a:p>
            <a:r>
              <a:rPr lang="en-US" sz="2200" dirty="0" err="1"/>
              <a:t>MLflow</a:t>
            </a:r>
            <a:r>
              <a:rPr lang="en-US" sz="2200" dirty="0"/>
              <a:t> 3.x introduces:</a:t>
            </a:r>
          </a:p>
          <a:p>
            <a:pPr lvl="1"/>
            <a:r>
              <a:rPr lang="en-US" sz="2200" dirty="0"/>
              <a:t>- GenAI / LLM support</a:t>
            </a:r>
          </a:p>
          <a:p>
            <a:pPr lvl="1"/>
            <a:r>
              <a:rPr lang="en-US" sz="2200" dirty="0"/>
              <a:t>- Prompt Registry</a:t>
            </a:r>
          </a:p>
          <a:p>
            <a:pPr lvl="1"/>
            <a:r>
              <a:rPr lang="en-US" sz="2200" dirty="0"/>
              <a:t>- Tracing &amp; Observability</a:t>
            </a:r>
          </a:p>
          <a:p>
            <a:pPr lvl="1"/>
            <a:r>
              <a:rPr lang="en-US" sz="2200" dirty="0"/>
              <a:t>- GenAI Evaluation &amp; Quality Monitoring</a:t>
            </a:r>
          </a:p>
          <a:p>
            <a:pPr lvl="1"/>
            <a:r>
              <a:rPr lang="en-US" sz="2200" dirty="0"/>
              <a:t>- Unified Model + Prompt + Dataset lifecycle</a:t>
            </a:r>
          </a:p>
          <a:p>
            <a:r>
              <a:rPr lang="en-US" sz="2200" dirty="0"/>
              <a:t>Time to modernize our understanding &amp; workflows</a:t>
            </a:r>
          </a:p>
          <a:p>
            <a:r>
              <a:rPr lang="en-US" sz="2200" dirty="0" err="1"/>
              <a:t>MLflow</a:t>
            </a:r>
            <a:r>
              <a:rPr lang="en-US" sz="2200" dirty="0"/>
              <a:t> now solves problems for both ML engineers and GenAI app builders</a:t>
            </a:r>
          </a:p>
        </p:txBody>
      </p:sp>
    </p:spTree>
    <p:extLst>
      <p:ext uri="{BB962C8B-B14F-4D97-AF65-F5344CB8AC3E}">
        <p14:creationId xmlns:p14="http://schemas.microsoft.com/office/powerpoint/2010/main" val="37193324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3495" y="305910"/>
            <a:ext cx="8465007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ML/AI Development Challenges (Classic + GenAI)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6FF5D04E-E5B5-65DB-6651-5F4C89F91C7D}"/>
              </a:ext>
            </a:extLst>
          </p:cNvPr>
          <p:cNvSpPr txBox="1"/>
          <p:nvPr/>
        </p:nvSpPr>
        <p:spPr>
          <a:xfrm>
            <a:off x="1426507" y="913173"/>
            <a:ext cx="9338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romatica" panose="00000500000000000000" pitchFamily="50" charset="-94"/>
              </a:rPr>
              <a:t>I have been creating monster models on my own computer, but what was I doing 2 months ago? </a:t>
            </a:r>
            <a:br>
              <a:rPr lang="en-US" sz="2400" dirty="0">
                <a:latin typeface="Chromatica" panose="00000500000000000000" pitchFamily="50" charset="-94"/>
              </a:rPr>
            </a:br>
            <a:r>
              <a:rPr lang="en-US" sz="2400" dirty="0">
                <a:latin typeface="Chromatica" panose="00000500000000000000" pitchFamily="50" charset="-94"/>
              </a:rPr>
              <a:t>Prompt drift, hard to evaluate LLM quality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pic>
        <p:nvPicPr>
          <p:cNvPr id="4" name="Picture 2" descr="399: Finding Time and Energy | seanwes podcast">
            <a:extLst>
              <a:ext uri="{FF2B5EF4-FFF2-40B4-BE49-F238E27FC236}">
                <a16:creationId xmlns:a16="http://schemas.microsoft.com/office/drawing/2014/main" id="{ADA5E87D-8585-63DD-3DCE-514F0EBA9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757" y="2216961"/>
            <a:ext cx="6025682" cy="301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ikdörtgen 2">
            <a:extLst>
              <a:ext uri="{FF2B5EF4-FFF2-40B4-BE49-F238E27FC236}">
                <a16:creationId xmlns:a16="http://schemas.microsoft.com/office/drawing/2014/main" id="{AEA5AF4C-AF9D-769E-6E4E-A2D2BC238904}"/>
              </a:ext>
            </a:extLst>
          </p:cNvPr>
          <p:cNvSpPr/>
          <p:nvPr/>
        </p:nvSpPr>
        <p:spPr>
          <a:xfrm>
            <a:off x="7491663" y="6418111"/>
            <a:ext cx="44344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4"/>
              </a:rPr>
              <a:t>Image</a:t>
            </a:r>
            <a:r>
              <a:rPr lang="tr-TR" sz="1200" dirty="0">
                <a:hlinkClick r:id="rId4"/>
              </a:rPr>
              <a:t>: https://seanwes.com/podcast/399-finding-time-and-energy/</a:t>
            </a:r>
            <a:endParaRPr lang="tr-TR" sz="1200" dirty="0"/>
          </a:p>
        </p:txBody>
      </p:sp>
      <p:sp>
        <p:nvSpPr>
          <p:cNvPr id="10" name="Dikdörtgen 3">
            <a:extLst>
              <a:ext uri="{FF2B5EF4-FFF2-40B4-BE49-F238E27FC236}">
                <a16:creationId xmlns:a16="http://schemas.microsoft.com/office/drawing/2014/main" id="{532E5350-5F72-A76D-18F1-93E900216449}"/>
              </a:ext>
            </a:extLst>
          </p:cNvPr>
          <p:cNvSpPr/>
          <p:nvPr/>
        </p:nvSpPr>
        <p:spPr>
          <a:xfrm>
            <a:off x="2587315" y="5495788"/>
            <a:ext cx="6322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404040"/>
                </a:solidFill>
                <a:latin typeface="Source Sans Pro" panose="020B0503030403020204" pitchFamily="34" charset="0"/>
              </a:rPr>
              <a:t>It’s difficult to keep track of experiments</a:t>
            </a: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.</a:t>
            </a:r>
            <a:endParaRPr lang="tr-T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751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5" name="Metin kutusu 1">
            <a:extLst>
              <a:ext uri="{FF2B5EF4-FFF2-40B4-BE49-F238E27FC236}">
                <a16:creationId xmlns:a16="http://schemas.microsoft.com/office/drawing/2014/main" id="{581106D2-0C41-D0A0-6733-9349B3D59934}"/>
              </a:ext>
            </a:extLst>
          </p:cNvPr>
          <p:cNvSpPr txBox="1"/>
          <p:nvPr/>
        </p:nvSpPr>
        <p:spPr>
          <a:xfrm>
            <a:off x="1057540" y="953558"/>
            <a:ext cx="51828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hromatica" panose="00000500000000000000" pitchFamily="50" charset="-94"/>
              </a:rPr>
              <a:t>Man, this code was working perfectly before. Why isn't it working now?</a:t>
            </a:r>
          </a:p>
          <a:p>
            <a:endParaRPr lang="en-US" sz="2400" dirty="0">
              <a:latin typeface="Chromatica" panose="00000500000000000000" pitchFamily="50" charset="-94"/>
            </a:endParaRPr>
          </a:p>
          <a:p>
            <a:r>
              <a:rPr lang="en-US" sz="2400" dirty="0">
                <a:latin typeface="Chromatica" panose="00000500000000000000" pitchFamily="50" charset="-94"/>
              </a:rPr>
              <a:t>I wonder which packages was installed back then?</a:t>
            </a:r>
          </a:p>
          <a:p>
            <a:endParaRPr lang="en-US" sz="2400" dirty="0">
              <a:latin typeface="Chromatica" panose="00000500000000000000" pitchFamily="50" charset="-94"/>
            </a:endParaRPr>
          </a:p>
          <a:p>
            <a:r>
              <a:rPr lang="en-US" sz="2400" dirty="0">
                <a:latin typeface="Chromatica" panose="00000500000000000000" pitchFamily="50" charset="-94"/>
              </a:rPr>
              <a:t>Which Python version was it?</a:t>
            </a:r>
          </a:p>
          <a:p>
            <a:pPr algn="ctr"/>
            <a:endParaRPr lang="tr-TR" sz="2400" dirty="0">
              <a:latin typeface="Chromatica" panose="00000500000000000000" pitchFamily="50" charset="-94"/>
            </a:endParaRPr>
          </a:p>
        </p:txBody>
      </p:sp>
      <p:pic>
        <p:nvPicPr>
          <p:cNvPr id="6" name="Picture 2" descr="Why is thinking so important for happy and successful life?">
            <a:extLst>
              <a:ext uri="{FF2B5EF4-FFF2-40B4-BE49-F238E27FC236}">
                <a16:creationId xmlns:a16="http://schemas.microsoft.com/office/drawing/2014/main" id="{BC9D502F-5522-47CD-9C42-A3F540072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1567113"/>
            <a:ext cx="3723774" cy="372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ikdörtgen 2">
            <a:extLst>
              <a:ext uri="{FF2B5EF4-FFF2-40B4-BE49-F238E27FC236}">
                <a16:creationId xmlns:a16="http://schemas.microsoft.com/office/drawing/2014/main" id="{AA879785-B269-4FC4-A8BF-0B20DBF753CF}"/>
              </a:ext>
            </a:extLst>
          </p:cNvPr>
          <p:cNvSpPr/>
          <p:nvPr/>
        </p:nvSpPr>
        <p:spPr>
          <a:xfrm>
            <a:off x="8045296" y="6418111"/>
            <a:ext cx="37516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200" dirty="0">
                <a:hlinkClick r:id="rId3"/>
              </a:rPr>
              <a:t>Görsel: http://www.lawfulrebel.com/thinking-important/</a:t>
            </a:r>
            <a:endParaRPr lang="tr-TR" sz="1200" dirty="0"/>
          </a:p>
        </p:txBody>
      </p:sp>
      <p:sp>
        <p:nvSpPr>
          <p:cNvPr id="8" name="Dikdörtgen 3">
            <a:extLst>
              <a:ext uri="{FF2B5EF4-FFF2-40B4-BE49-F238E27FC236}">
                <a16:creationId xmlns:a16="http://schemas.microsoft.com/office/drawing/2014/main" id="{7F14AAE7-09C9-8032-1C93-21A8AA82F4C0}"/>
              </a:ext>
            </a:extLst>
          </p:cNvPr>
          <p:cNvSpPr/>
          <p:nvPr/>
        </p:nvSpPr>
        <p:spPr>
          <a:xfrm>
            <a:off x="1228725" y="5452168"/>
            <a:ext cx="5932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04040"/>
                </a:solidFill>
                <a:latin typeface="Chromatica" panose="00000500000000000000" pitchFamily="50" charset="-94"/>
              </a:rPr>
              <a:t>It’s difficult to reproduce code</a:t>
            </a:r>
            <a:endParaRPr lang="tr-TR" sz="28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6452802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BA35BAF1-C1CA-7F18-8237-C9B53B3FDCD4}"/>
              </a:ext>
            </a:extLst>
          </p:cNvPr>
          <p:cNvSpPr txBox="1"/>
          <p:nvPr/>
        </p:nvSpPr>
        <p:spPr>
          <a:xfrm>
            <a:off x="1619515" y="2826009"/>
            <a:ext cx="5182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romatica" panose="00000500000000000000" pitchFamily="50" charset="-94"/>
              </a:rPr>
              <a:t>Everyone has their own way of eating yogurt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sp>
        <p:nvSpPr>
          <p:cNvPr id="4" name="Dikdörtgen 2">
            <a:extLst>
              <a:ext uri="{FF2B5EF4-FFF2-40B4-BE49-F238E27FC236}">
                <a16:creationId xmlns:a16="http://schemas.microsoft.com/office/drawing/2014/main" id="{99BA79A8-C430-50C8-1B7E-6C5569D7F550}"/>
              </a:ext>
            </a:extLst>
          </p:cNvPr>
          <p:cNvSpPr/>
          <p:nvPr/>
        </p:nvSpPr>
        <p:spPr>
          <a:xfrm>
            <a:off x="6595337" y="6422029"/>
            <a:ext cx="54723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2"/>
              </a:rPr>
              <a:t>Image</a:t>
            </a:r>
            <a:r>
              <a:rPr lang="tr-TR" sz="1200" dirty="0">
                <a:hlinkClick r:id="rId2"/>
              </a:rPr>
              <a:t>: </a:t>
            </a:r>
            <a:r>
              <a:rPr lang="tr-TR" sz="1200" dirty="0">
                <a:hlinkClick r:id="rId3"/>
              </a:rPr>
              <a:t>https://lyriquediscorde.com/2012/09/27/the-70s-you-can-go-your-own-way/</a:t>
            </a:r>
            <a:endParaRPr lang="tr-TR" sz="1200" dirty="0"/>
          </a:p>
        </p:txBody>
      </p:sp>
      <p:sp>
        <p:nvSpPr>
          <p:cNvPr id="9" name="Dikdörtgen 3">
            <a:extLst>
              <a:ext uri="{FF2B5EF4-FFF2-40B4-BE49-F238E27FC236}">
                <a16:creationId xmlns:a16="http://schemas.microsoft.com/office/drawing/2014/main" id="{1035A663-FB4E-C8B4-0D18-B395639C4228}"/>
              </a:ext>
            </a:extLst>
          </p:cNvPr>
          <p:cNvSpPr/>
          <p:nvPr/>
        </p:nvSpPr>
        <p:spPr>
          <a:xfrm>
            <a:off x="856602" y="5023435"/>
            <a:ext cx="91983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Chromatica" panose="00000500000000000000" pitchFamily="50" charset="-94"/>
              </a:rPr>
              <a:t>There’s no standard way to package and deploy models. 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pic>
        <p:nvPicPr>
          <p:cNvPr id="10" name="Picture 2" descr="The 70's :: You can go your own way – lyriquediscorde">
            <a:extLst>
              <a:ext uri="{FF2B5EF4-FFF2-40B4-BE49-F238E27FC236}">
                <a16:creationId xmlns:a16="http://schemas.microsoft.com/office/drawing/2014/main" id="{BB4915E9-9EC0-BA39-EA70-AF28B6FF1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567" y="1432271"/>
            <a:ext cx="47625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487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5" name="Metin kutusu 1">
            <a:extLst>
              <a:ext uri="{FF2B5EF4-FFF2-40B4-BE49-F238E27FC236}">
                <a16:creationId xmlns:a16="http://schemas.microsoft.com/office/drawing/2014/main" id="{84EAA2A1-977C-98D4-1E02-9C0427A56E16}"/>
              </a:ext>
            </a:extLst>
          </p:cNvPr>
          <p:cNvSpPr txBox="1"/>
          <p:nvPr/>
        </p:nvSpPr>
        <p:spPr>
          <a:xfrm>
            <a:off x="1057540" y="1567113"/>
            <a:ext cx="5182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romatica" panose="00000500000000000000" pitchFamily="50" charset="-94"/>
              </a:rPr>
              <a:t>So many data scientist build hundreds models so far.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sp>
        <p:nvSpPr>
          <p:cNvPr id="6" name="Dikdörtgen 2">
            <a:extLst>
              <a:ext uri="{FF2B5EF4-FFF2-40B4-BE49-F238E27FC236}">
                <a16:creationId xmlns:a16="http://schemas.microsoft.com/office/drawing/2014/main" id="{0B304F51-C1A4-28F3-F2FD-139550330918}"/>
              </a:ext>
            </a:extLst>
          </p:cNvPr>
          <p:cNvSpPr/>
          <p:nvPr/>
        </p:nvSpPr>
        <p:spPr>
          <a:xfrm>
            <a:off x="6700112" y="6505957"/>
            <a:ext cx="54723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2"/>
              </a:rPr>
              <a:t>Image</a:t>
            </a:r>
            <a:r>
              <a:rPr lang="tr-TR" sz="1200" dirty="0">
                <a:hlinkClick r:id="rId2"/>
              </a:rPr>
              <a:t>: </a:t>
            </a:r>
            <a:r>
              <a:rPr lang="tr-TR" sz="1200" dirty="0">
                <a:hlinkClick r:id="rId3"/>
              </a:rPr>
              <a:t>https://lyriquediscorde.com/2012/09/27/the-70s-you-can-go-your-own-way/</a:t>
            </a:r>
            <a:endParaRPr lang="tr-TR" sz="1200" dirty="0"/>
          </a:p>
        </p:txBody>
      </p:sp>
      <p:sp>
        <p:nvSpPr>
          <p:cNvPr id="7" name="Dikdörtgen 3">
            <a:extLst>
              <a:ext uri="{FF2B5EF4-FFF2-40B4-BE49-F238E27FC236}">
                <a16:creationId xmlns:a16="http://schemas.microsoft.com/office/drawing/2014/main" id="{5C4DFB8E-FF91-5F55-DACA-8C2C699723CB}"/>
              </a:ext>
            </a:extLst>
          </p:cNvPr>
          <p:cNvSpPr/>
          <p:nvPr/>
        </p:nvSpPr>
        <p:spPr>
          <a:xfrm>
            <a:off x="685081" y="5023435"/>
            <a:ext cx="701185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404040"/>
                </a:solidFill>
                <a:latin typeface="Chromatica" panose="00000500000000000000" pitchFamily="50" charset="-94"/>
              </a:rPr>
              <a:t>There’s no central store to manage models </a:t>
            </a:r>
            <a:endParaRPr lang="tr-TR" sz="2400" b="1" dirty="0">
              <a:solidFill>
                <a:srgbClr val="404040"/>
              </a:solidFill>
              <a:latin typeface="Chromatica" panose="00000500000000000000" pitchFamily="50" charset="-94"/>
            </a:endParaRPr>
          </a:p>
          <a:p>
            <a:pPr algn="ctr"/>
            <a:r>
              <a:rPr lang="en-US" sz="2400" b="1" dirty="0">
                <a:solidFill>
                  <a:srgbClr val="404040"/>
                </a:solidFill>
                <a:latin typeface="Chromatica" panose="00000500000000000000" pitchFamily="50" charset="-94"/>
              </a:rPr>
              <a:t>(their versions and stage transitions)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pic>
        <p:nvPicPr>
          <p:cNvPr id="8" name="Picture 2" descr="Datanamic Repository - Collaborative Modeling for Teams">
            <a:extLst>
              <a:ext uri="{FF2B5EF4-FFF2-40B4-BE49-F238E27FC236}">
                <a16:creationId xmlns:a16="http://schemas.microsoft.com/office/drawing/2014/main" id="{94951917-A1A6-AE13-FF2E-C85A376DC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15" y="1567113"/>
            <a:ext cx="4282116" cy="32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kış Çizelgesi: Çok Sayıda Belge 5">
            <a:extLst>
              <a:ext uri="{FF2B5EF4-FFF2-40B4-BE49-F238E27FC236}">
                <a16:creationId xmlns:a16="http://schemas.microsoft.com/office/drawing/2014/main" id="{8B260194-D959-9ADE-209B-D9279818CFAE}"/>
              </a:ext>
            </a:extLst>
          </p:cNvPr>
          <p:cNvSpPr/>
          <p:nvPr/>
        </p:nvSpPr>
        <p:spPr>
          <a:xfrm>
            <a:off x="9329530" y="3657601"/>
            <a:ext cx="238540" cy="185530"/>
          </a:xfrm>
          <a:prstGeom prst="flowChartMulti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2" name="Akış Çizelgesi: Çok Sayıda Belge 8">
            <a:extLst>
              <a:ext uri="{FF2B5EF4-FFF2-40B4-BE49-F238E27FC236}">
                <a16:creationId xmlns:a16="http://schemas.microsoft.com/office/drawing/2014/main" id="{0DF0E139-0A11-0648-C016-18279FC463D3}"/>
              </a:ext>
            </a:extLst>
          </p:cNvPr>
          <p:cNvSpPr/>
          <p:nvPr/>
        </p:nvSpPr>
        <p:spPr>
          <a:xfrm>
            <a:off x="9666473" y="3657601"/>
            <a:ext cx="238540" cy="185530"/>
          </a:xfrm>
          <a:prstGeom prst="flowChartMultidocument">
            <a:avLst/>
          </a:prstGeom>
          <a:solidFill>
            <a:srgbClr val="007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" name="Akış Çizelgesi: Çok Sayıda Belge 9">
            <a:extLst>
              <a:ext uri="{FF2B5EF4-FFF2-40B4-BE49-F238E27FC236}">
                <a16:creationId xmlns:a16="http://schemas.microsoft.com/office/drawing/2014/main" id="{FD56A5E3-BFF5-6B6B-25BB-C0F1636A9B5A}"/>
              </a:ext>
            </a:extLst>
          </p:cNvPr>
          <p:cNvSpPr/>
          <p:nvPr/>
        </p:nvSpPr>
        <p:spPr>
          <a:xfrm>
            <a:off x="10003416" y="3657601"/>
            <a:ext cx="238540" cy="185530"/>
          </a:xfrm>
          <a:prstGeom prst="flowChartMultidocumen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Akış Çizelgesi: Çok Sayıda Belge 10">
            <a:extLst>
              <a:ext uri="{FF2B5EF4-FFF2-40B4-BE49-F238E27FC236}">
                <a16:creationId xmlns:a16="http://schemas.microsoft.com/office/drawing/2014/main" id="{2AE40FA7-CB1A-0F0A-27B1-91CBB571F6EA}"/>
              </a:ext>
            </a:extLst>
          </p:cNvPr>
          <p:cNvSpPr/>
          <p:nvPr/>
        </p:nvSpPr>
        <p:spPr>
          <a:xfrm>
            <a:off x="9329530" y="3858421"/>
            <a:ext cx="238540" cy="185530"/>
          </a:xfrm>
          <a:prstGeom prst="flowChartMultidocument">
            <a:avLst/>
          </a:prstGeom>
          <a:solidFill>
            <a:srgbClr val="007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5" name="Akış Çizelgesi: Çok Sayıda Belge 11">
            <a:extLst>
              <a:ext uri="{FF2B5EF4-FFF2-40B4-BE49-F238E27FC236}">
                <a16:creationId xmlns:a16="http://schemas.microsoft.com/office/drawing/2014/main" id="{BC2973AE-D36E-08F5-DCDA-86088728FFA5}"/>
              </a:ext>
            </a:extLst>
          </p:cNvPr>
          <p:cNvSpPr/>
          <p:nvPr/>
        </p:nvSpPr>
        <p:spPr>
          <a:xfrm>
            <a:off x="9666473" y="3858421"/>
            <a:ext cx="238540" cy="185530"/>
          </a:xfrm>
          <a:prstGeom prst="flowChartMultidocumen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Akış Çizelgesi: Çok Sayıda Belge 12">
            <a:extLst>
              <a:ext uri="{FF2B5EF4-FFF2-40B4-BE49-F238E27FC236}">
                <a16:creationId xmlns:a16="http://schemas.microsoft.com/office/drawing/2014/main" id="{4DD1C0C5-E7AB-43BB-0D05-05CE4C7E8C7F}"/>
              </a:ext>
            </a:extLst>
          </p:cNvPr>
          <p:cNvSpPr/>
          <p:nvPr/>
        </p:nvSpPr>
        <p:spPr>
          <a:xfrm>
            <a:off x="10003416" y="3858421"/>
            <a:ext cx="238540" cy="185530"/>
          </a:xfrm>
          <a:prstGeom prst="flowChartMultidocument">
            <a:avLst/>
          </a:prstGeom>
          <a:solidFill>
            <a:srgbClr val="007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Akış Çizelgesi: Çok Sayıda Belge 13">
            <a:extLst>
              <a:ext uri="{FF2B5EF4-FFF2-40B4-BE49-F238E27FC236}">
                <a16:creationId xmlns:a16="http://schemas.microsoft.com/office/drawing/2014/main" id="{164C3CE1-EBB7-9009-57C5-271DE4EF0C82}"/>
              </a:ext>
            </a:extLst>
          </p:cNvPr>
          <p:cNvSpPr/>
          <p:nvPr/>
        </p:nvSpPr>
        <p:spPr>
          <a:xfrm>
            <a:off x="9329530" y="4067830"/>
            <a:ext cx="238540" cy="185530"/>
          </a:xfrm>
          <a:prstGeom prst="flowChartMultidocumen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8" name="Akış Çizelgesi: Çok Sayıda Belge 14">
            <a:extLst>
              <a:ext uri="{FF2B5EF4-FFF2-40B4-BE49-F238E27FC236}">
                <a16:creationId xmlns:a16="http://schemas.microsoft.com/office/drawing/2014/main" id="{FF0C3B60-2A66-4724-4DC9-63009F41A159}"/>
              </a:ext>
            </a:extLst>
          </p:cNvPr>
          <p:cNvSpPr/>
          <p:nvPr/>
        </p:nvSpPr>
        <p:spPr>
          <a:xfrm>
            <a:off x="9666473" y="4067830"/>
            <a:ext cx="238540" cy="185530"/>
          </a:xfrm>
          <a:prstGeom prst="flowChartMultidocument">
            <a:avLst/>
          </a:prstGeom>
          <a:solidFill>
            <a:srgbClr val="007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Akış Çizelgesi: Çok Sayıda Belge 15">
            <a:extLst>
              <a:ext uri="{FF2B5EF4-FFF2-40B4-BE49-F238E27FC236}">
                <a16:creationId xmlns:a16="http://schemas.microsoft.com/office/drawing/2014/main" id="{B840A97B-D70A-5FAC-E11F-4B52AAACD1DB}"/>
              </a:ext>
            </a:extLst>
          </p:cNvPr>
          <p:cNvSpPr/>
          <p:nvPr/>
        </p:nvSpPr>
        <p:spPr>
          <a:xfrm>
            <a:off x="10003416" y="4067830"/>
            <a:ext cx="238540" cy="185530"/>
          </a:xfrm>
          <a:prstGeom prst="flowChartMultidocument">
            <a:avLst/>
          </a:prstGeom>
          <a:solidFill>
            <a:srgbClr val="007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Dikdörtgen 6">
            <a:extLst>
              <a:ext uri="{FF2B5EF4-FFF2-40B4-BE49-F238E27FC236}">
                <a16:creationId xmlns:a16="http://schemas.microsoft.com/office/drawing/2014/main" id="{7B165622-E8AA-B232-2108-211C2DFA2480}"/>
              </a:ext>
            </a:extLst>
          </p:cNvPr>
          <p:cNvSpPr/>
          <p:nvPr/>
        </p:nvSpPr>
        <p:spPr>
          <a:xfrm>
            <a:off x="1329992" y="3249107"/>
            <a:ext cx="42627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hromatica" panose="00000500000000000000" pitchFamily="50" charset="-94"/>
              </a:rPr>
              <a:t>Who know where are they?</a:t>
            </a:r>
            <a:endParaRPr lang="tr-TR" sz="24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2723476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1">
            <a:extLst>
              <a:ext uri="{FF2B5EF4-FFF2-40B4-BE49-F238E27FC236}">
                <a16:creationId xmlns:a16="http://schemas.microsoft.com/office/drawing/2014/main" id="{03027639-C2EE-E153-D572-7B3C6FA5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E99969F2-7D20-1FCB-D943-BBBB999C5F61}"/>
              </a:ext>
            </a:extLst>
          </p:cNvPr>
          <p:cNvSpPr txBox="1"/>
          <p:nvPr/>
        </p:nvSpPr>
        <p:spPr>
          <a:xfrm>
            <a:off x="1076590" y="2534439"/>
            <a:ext cx="5182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romatica" panose="00000500000000000000" pitchFamily="50" charset="-94"/>
              </a:rPr>
              <a:t>You have to keep the cycle turning constantly.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1CD8D14-130F-CEEA-4D7C-E8ACBBC1E497}"/>
              </a:ext>
            </a:extLst>
          </p:cNvPr>
          <p:cNvSpPr/>
          <p:nvPr/>
        </p:nvSpPr>
        <p:spPr>
          <a:xfrm>
            <a:off x="838433" y="4768689"/>
            <a:ext cx="52870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2800" b="1" dirty="0">
                <a:solidFill>
                  <a:srgbClr val="404040"/>
                </a:solidFill>
                <a:latin typeface="Source Sans Pro" panose="020B0503030403020204" pitchFamily="34" charset="0"/>
              </a:rPr>
              <a:t>The </a:t>
            </a:r>
            <a:r>
              <a:rPr lang="en-US" sz="2800" b="1" dirty="0">
                <a:solidFill>
                  <a:srgbClr val="404040"/>
                </a:solidFill>
                <a:latin typeface="Source Sans Pro" panose="020B0503030403020204" pitchFamily="34" charset="0"/>
              </a:rPr>
              <a:t>more automated, the better</a:t>
            </a:r>
            <a:endParaRPr lang="en-US" sz="2800" dirty="0"/>
          </a:p>
        </p:txBody>
      </p:sp>
      <p:sp>
        <p:nvSpPr>
          <p:cNvPr id="9" name="Dikdörtgen 7">
            <a:extLst>
              <a:ext uri="{FF2B5EF4-FFF2-40B4-BE49-F238E27FC236}">
                <a16:creationId xmlns:a16="http://schemas.microsoft.com/office/drawing/2014/main" id="{2F7DC73F-B5EE-A435-0A58-C3CA7F4BAFBA}"/>
              </a:ext>
            </a:extLst>
          </p:cNvPr>
          <p:cNvSpPr/>
          <p:nvPr/>
        </p:nvSpPr>
        <p:spPr>
          <a:xfrm>
            <a:off x="4364182" y="6284654"/>
            <a:ext cx="78278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Image</a:t>
            </a:r>
            <a:r>
              <a:rPr lang="tr-TR" sz="1200" dirty="0">
                <a:hlinkClick r:id="rId2"/>
              </a:rPr>
              <a:t>: </a:t>
            </a:r>
            <a:r>
              <a:rPr lang="tr-TR" sz="1200" dirty="0">
                <a:hlinkClick r:id="rId3"/>
              </a:rPr>
              <a:t>https://cdn.app.compendium.com/uploads/user/e7c690e8-6ff9-102a-ac6d-e4aebca50425/5ff89cbc-ea1e-4ab0-b646-877369cad553/File/db1143146969d1d08c338d1fba5a2f8b/stages_of_machine_learning_lifecycle.png</a:t>
            </a:r>
            <a:endParaRPr lang="tr-TR" sz="1200" dirty="0"/>
          </a:p>
          <a:p>
            <a:endParaRPr lang="tr-TR" sz="1200" dirty="0"/>
          </a:p>
        </p:txBody>
      </p:sp>
      <p:pic>
        <p:nvPicPr>
          <p:cNvPr id="10" name="Picture 2" descr="7 Artificial Intelligence Trends and How They Work With ...">
            <a:extLst>
              <a:ext uri="{FF2B5EF4-FFF2-40B4-BE49-F238E27FC236}">
                <a16:creationId xmlns:a16="http://schemas.microsoft.com/office/drawing/2014/main" id="{877A3BFC-65C2-DBF6-79C6-8CF346FCA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812" y="879411"/>
            <a:ext cx="5210175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064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3" name="Metin kutusu 1">
            <a:extLst>
              <a:ext uri="{FF2B5EF4-FFF2-40B4-BE49-F238E27FC236}">
                <a16:creationId xmlns:a16="http://schemas.microsoft.com/office/drawing/2014/main" id="{EEC1C826-BCD9-4FC0-A067-55AAEF0B1ABE}"/>
              </a:ext>
            </a:extLst>
          </p:cNvPr>
          <p:cNvSpPr txBox="1"/>
          <p:nvPr/>
        </p:nvSpPr>
        <p:spPr>
          <a:xfrm>
            <a:off x="865537" y="1022452"/>
            <a:ext cx="5560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hromatica" panose="00000500000000000000" pitchFamily="50" charset="-94"/>
              </a:rPr>
              <a:t>What was this model made for?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What was the problem it was solving?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Who made it and when?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What were the hyperparameters?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What were the codes?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What was the performance metric?</a:t>
            </a:r>
          </a:p>
          <a:p>
            <a:r>
              <a:rPr lang="en-US" sz="2400" dirty="0">
                <a:latin typeface="Chromatica" panose="00000500000000000000" pitchFamily="50" charset="-94"/>
              </a:rPr>
              <a:t>Is there an explanation or any details about it?</a:t>
            </a:r>
            <a:endParaRPr lang="tr-TR" sz="2400" dirty="0">
              <a:latin typeface="Chromatica" panose="00000500000000000000" pitchFamily="50" charset="-94"/>
            </a:endParaRPr>
          </a:p>
        </p:txBody>
      </p:sp>
      <p:sp>
        <p:nvSpPr>
          <p:cNvPr id="5" name="Dikdörtgen 3">
            <a:extLst>
              <a:ext uri="{FF2B5EF4-FFF2-40B4-BE49-F238E27FC236}">
                <a16:creationId xmlns:a16="http://schemas.microsoft.com/office/drawing/2014/main" id="{00F80783-A52B-9176-8D32-72E64A4362A1}"/>
              </a:ext>
            </a:extLst>
          </p:cNvPr>
          <p:cNvSpPr/>
          <p:nvPr/>
        </p:nvSpPr>
        <p:spPr>
          <a:xfrm>
            <a:off x="955030" y="4895048"/>
            <a:ext cx="5663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Source Sans Pro" panose="020B0503030403020204" pitchFamily="34" charset="0"/>
              </a:rPr>
              <a:t>A lineage is a must for every model</a:t>
            </a:r>
            <a:endParaRPr lang="tr-TR" sz="2800" dirty="0"/>
          </a:p>
        </p:txBody>
      </p:sp>
      <p:pic>
        <p:nvPicPr>
          <p:cNvPr id="6" name="Picture 2" descr="AI's Biggest Struggle Yet — No Streamlined MLOps as a Service">
            <a:extLst>
              <a:ext uri="{FF2B5EF4-FFF2-40B4-BE49-F238E27FC236}">
                <a16:creationId xmlns:a16="http://schemas.microsoft.com/office/drawing/2014/main" id="{B47F7CA8-BE59-F893-F092-EDC3F444A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93" y="1158433"/>
            <a:ext cx="4756959" cy="421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ikdörtgen 7">
            <a:extLst>
              <a:ext uri="{FF2B5EF4-FFF2-40B4-BE49-F238E27FC236}">
                <a16:creationId xmlns:a16="http://schemas.microsoft.com/office/drawing/2014/main" id="{40DD38F3-E75F-1C70-C691-BD8C9B01030E}"/>
              </a:ext>
            </a:extLst>
          </p:cNvPr>
          <p:cNvSpPr/>
          <p:nvPr/>
        </p:nvSpPr>
        <p:spPr>
          <a:xfrm>
            <a:off x="4364182" y="6284654"/>
            <a:ext cx="782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Image</a:t>
            </a:r>
            <a:r>
              <a:rPr lang="tr-TR" sz="1200" dirty="0">
                <a:hlinkClick r:id="rId3"/>
              </a:rPr>
              <a:t>: https://medium.com/ai-in-plain-english/ai-biggest-struggle-yet-no-streamlined-mlops-as-a-service-a4e4b42422ae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3140953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Challenges of ML Things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0CA763A-1789-605C-1601-8A6331381F9D}"/>
              </a:ext>
            </a:extLst>
          </p:cNvPr>
          <p:cNvSpPr txBox="1"/>
          <p:nvPr/>
        </p:nvSpPr>
        <p:spPr>
          <a:xfrm>
            <a:off x="1453550" y="1698440"/>
            <a:ext cx="51828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romatica" panose="00000500000000000000" pitchFamily="50" charset="-94"/>
              </a:rPr>
              <a:t>Did we build this model with Spark</a:t>
            </a:r>
            <a:r>
              <a:rPr lang="tr-TR" sz="2400" dirty="0">
                <a:latin typeface="Chromatica" panose="00000500000000000000" pitchFamily="50" charset="-94"/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romatica" panose="00000500000000000000" pitchFamily="50" charset="-94"/>
              </a:rPr>
              <a:t>Were we supposed to deploy in Java</a:t>
            </a:r>
            <a:r>
              <a:rPr lang="tr-TR" sz="2400" dirty="0">
                <a:latin typeface="Chromatica" panose="00000500000000000000" pitchFamily="50" charset="-94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romatica" panose="00000500000000000000" pitchFamily="50" charset="-94"/>
              </a:rPr>
              <a:t>Were we going to predict from mobile app</a:t>
            </a:r>
            <a:r>
              <a:rPr lang="tr-TR" sz="2400" dirty="0">
                <a:latin typeface="Chromatica" panose="00000500000000000000" pitchFamily="50" charset="-94"/>
              </a:rPr>
              <a:t>?</a:t>
            </a:r>
          </a:p>
        </p:txBody>
      </p:sp>
      <p:sp>
        <p:nvSpPr>
          <p:cNvPr id="7" name="Dikdörtgen 3">
            <a:extLst>
              <a:ext uri="{FF2B5EF4-FFF2-40B4-BE49-F238E27FC236}">
                <a16:creationId xmlns:a16="http://schemas.microsoft.com/office/drawing/2014/main" id="{209F52D8-0015-4719-7B41-6AD6042B274B}"/>
              </a:ext>
            </a:extLst>
          </p:cNvPr>
          <p:cNvSpPr/>
          <p:nvPr/>
        </p:nvSpPr>
        <p:spPr>
          <a:xfrm>
            <a:off x="594489" y="4767667"/>
            <a:ext cx="81275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Source Sans Pro" panose="020B0503030403020204" pitchFamily="34" charset="0"/>
              </a:rPr>
              <a:t>No tool and framework alone can handle all lifecycle</a:t>
            </a:r>
            <a:endParaRPr lang="tr-TR" sz="2800" dirty="0"/>
          </a:p>
        </p:txBody>
      </p:sp>
      <p:sp>
        <p:nvSpPr>
          <p:cNvPr id="9" name="Dikdörtgen 7">
            <a:extLst>
              <a:ext uri="{FF2B5EF4-FFF2-40B4-BE49-F238E27FC236}">
                <a16:creationId xmlns:a16="http://schemas.microsoft.com/office/drawing/2014/main" id="{52280CDF-D102-C821-2EE0-DC80AD108296}"/>
              </a:ext>
            </a:extLst>
          </p:cNvPr>
          <p:cNvSpPr/>
          <p:nvPr/>
        </p:nvSpPr>
        <p:spPr>
          <a:xfrm>
            <a:off x="4364182" y="6284654"/>
            <a:ext cx="782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Image</a:t>
            </a:r>
            <a:r>
              <a:rPr lang="tr-TR" sz="1200" dirty="0">
                <a:hlinkClick r:id="rId2"/>
              </a:rPr>
              <a:t>: https://medium.com/ai-in-plain-english/ai-biggest-struggle-yet-no-streamlined-mlops-as-a-service-a4e4b42422ae</a:t>
            </a:r>
            <a:endParaRPr lang="tr-TR" sz="1200" dirty="0"/>
          </a:p>
        </p:txBody>
      </p:sp>
      <p:pic>
        <p:nvPicPr>
          <p:cNvPr id="10" name="Resim 2">
            <a:extLst>
              <a:ext uri="{FF2B5EF4-FFF2-40B4-BE49-F238E27FC236}">
                <a16:creationId xmlns:a16="http://schemas.microsoft.com/office/drawing/2014/main" id="{B1131E36-B63A-57C5-CDB1-36A452E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357" y="1567113"/>
            <a:ext cx="1400370" cy="990738"/>
          </a:xfrm>
          <a:prstGeom prst="rect">
            <a:avLst/>
          </a:prstGeom>
        </p:spPr>
      </p:pic>
      <p:pic>
        <p:nvPicPr>
          <p:cNvPr id="11" name="Resim 5">
            <a:extLst>
              <a:ext uri="{FF2B5EF4-FFF2-40B4-BE49-F238E27FC236}">
                <a16:creationId xmlns:a16="http://schemas.microsoft.com/office/drawing/2014/main" id="{34117DF8-F660-9066-379E-2CC1BBB1A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405" y="2889987"/>
            <a:ext cx="1371791" cy="695422"/>
          </a:xfrm>
          <a:prstGeom prst="rect">
            <a:avLst/>
          </a:prstGeom>
        </p:spPr>
      </p:pic>
      <p:pic>
        <p:nvPicPr>
          <p:cNvPr id="12" name="Resim 6">
            <a:extLst>
              <a:ext uri="{FF2B5EF4-FFF2-40B4-BE49-F238E27FC236}">
                <a16:creationId xmlns:a16="http://schemas.microsoft.com/office/drawing/2014/main" id="{4687547D-1938-60D6-93C3-695FB5003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3" y="2936130"/>
            <a:ext cx="1124107" cy="933580"/>
          </a:xfrm>
          <a:prstGeom prst="rect">
            <a:avLst/>
          </a:prstGeom>
        </p:spPr>
      </p:pic>
      <p:pic>
        <p:nvPicPr>
          <p:cNvPr id="13" name="Resim 8">
            <a:extLst>
              <a:ext uri="{FF2B5EF4-FFF2-40B4-BE49-F238E27FC236}">
                <a16:creationId xmlns:a16="http://schemas.microsoft.com/office/drawing/2014/main" id="{2FCF1A18-1D62-842A-2FE2-3FC4E0943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405" y="4091207"/>
            <a:ext cx="1362265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858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MLflow Overview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600073" y="1055104"/>
            <a:ext cx="6248402" cy="503317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Stepping into the world of Machine Learning (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ML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) is an exciting journey, but it often comes with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complexities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that can hinder innovation and experimentation.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MLflow is a solution to many of these issues in this dynamic landscape, offering tools and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simplifying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processes to streamline the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ML lifecycle 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and foster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collaboration among ML practitioners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8138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MLflow Overview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657224" y="869576"/>
            <a:ext cx="5943601" cy="523835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MLflow provides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a unified platform 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to navigate the intricate maze of;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000" dirty="0">
                <a:solidFill>
                  <a:srgbClr val="404041"/>
                </a:solidFill>
                <a:latin typeface="Chromatica" panose="00000500000000000000" pitchFamily="50" charset="-94"/>
              </a:rPr>
              <a:t>Model development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000" dirty="0">
                <a:solidFill>
                  <a:srgbClr val="404041"/>
                </a:solidFill>
                <a:latin typeface="Chromatica" panose="00000500000000000000" pitchFamily="50" charset="-94"/>
              </a:rPr>
              <a:t>Deployment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000" dirty="0">
                <a:solidFill>
                  <a:srgbClr val="404041"/>
                </a:solidFill>
                <a:latin typeface="Chromatica" panose="00000500000000000000" pitchFamily="50" charset="-94"/>
              </a:rPr>
              <a:t>Management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MLflow aims to enable innovation in ML solution development by streamlining otherwise cumbersome logging, organization, and lineage concerns that are unique to model development. </a:t>
            </a:r>
          </a:p>
        </p:txBody>
      </p:sp>
    </p:spTree>
    <p:extLst>
      <p:ext uri="{BB962C8B-B14F-4D97-AF65-F5344CB8AC3E}">
        <p14:creationId xmlns:p14="http://schemas.microsoft.com/office/powerpoint/2010/main" val="26618864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MLflow Core Components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765504" y="1014796"/>
            <a:ext cx="10350171" cy="44521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Tracking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Artifacts &amp; Metadata Store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Model Registry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Prompt Registry (NEW)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 err="1">
                <a:solidFill>
                  <a:srgbClr val="404041"/>
                </a:solidFill>
                <a:latin typeface="Chromatica" panose="00000500000000000000" pitchFamily="50" charset="-94"/>
              </a:rPr>
              <a:t>MLflow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Deployments &amp; AI Gateway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Evaluations (ML + GenAI)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Tracing &amp; Observability (NEW)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Recipes &amp; Projects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UI (improved for datasets, evaluations, traces)</a:t>
            </a:r>
          </a:p>
        </p:txBody>
      </p:sp>
    </p:spTree>
    <p:extLst>
      <p:ext uri="{BB962C8B-B14F-4D97-AF65-F5344CB8AC3E}">
        <p14:creationId xmlns:p14="http://schemas.microsoft.com/office/powerpoint/2010/main" val="26124813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1. Tracking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657224" y="869576"/>
            <a:ext cx="10791826" cy="55622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Provides API and UI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During the ML/AI process logs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Parameters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Code versions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Metrics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Artifacts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Log parameters,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Log prompts,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LLM responses,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Evaluation results,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Auto logging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dirty="0">
                <a:solidFill>
                  <a:srgbClr val="404041"/>
                </a:solidFill>
                <a:latin typeface="Chromatica" panose="00000500000000000000" pitchFamily="50" charset="-94"/>
              </a:rPr>
              <a:t>supports GenAI runs via </a:t>
            </a:r>
            <a:r>
              <a:rPr lang="en-US" sz="2200" dirty="0" err="1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mlflow.genai</a:t>
            </a:r>
            <a:endParaRPr lang="en-US" sz="2200" dirty="0">
              <a:solidFill>
                <a:srgbClr val="404041"/>
              </a:solidFill>
              <a:latin typeface="Chromatica" panose="00000500000000000000" pitchFamily="50" charset="-9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D5C19-16FB-023C-12AF-609AFA66B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20" y="869576"/>
            <a:ext cx="5719643" cy="26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8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6FEA3D8C-3FB7-4511-96E3-073EBD337C2D}"/>
              </a:ext>
            </a:extLst>
          </p:cNvPr>
          <p:cNvSpPr txBox="1"/>
          <p:nvPr/>
        </p:nvSpPr>
        <p:spPr>
          <a:xfrm>
            <a:off x="2427979" y="275110"/>
            <a:ext cx="7322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b="1" dirty="0">
                <a:solidFill>
                  <a:srgbClr val="FF4D4D"/>
                </a:solidFill>
                <a:latin typeface="Chromatica" panose="00000500000000000000" pitchFamily="50" charset="-94"/>
              </a:rPr>
              <a:t>1. MLflow Tracking </a:t>
            </a:r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</a:rPr>
              <a:t>Storage</a:t>
            </a:r>
            <a:endParaRPr lang="tr-TR" sz="3200" b="1" dirty="0">
              <a:solidFill>
                <a:srgbClr val="FF4D4D"/>
              </a:solidFill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AC521CE7-AD5E-4733-B768-D756FAB9BD9E}"/>
              </a:ext>
            </a:extLst>
          </p:cNvPr>
          <p:cNvSpPr txBox="1"/>
          <p:nvPr/>
        </p:nvSpPr>
        <p:spPr>
          <a:xfrm>
            <a:off x="1426509" y="1173880"/>
            <a:ext cx="9338982" cy="1126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During the model training logs are sent </a:t>
            </a:r>
            <a:r>
              <a:rPr lang="tr-TR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ML_FLOW_TRACKING_URI </a:t>
            </a:r>
            <a:r>
              <a:rPr lang="en-US" sz="2400" dirty="0">
                <a:latin typeface="Chromatica" panose="00000500000000000000" pitchFamily="50" charset="-94"/>
              </a:rPr>
              <a:t>defined tracking server</a:t>
            </a:r>
            <a:r>
              <a:rPr lang="tr-TR" sz="2400" dirty="0">
                <a:latin typeface="Chromatica" panose="00000500000000000000" pitchFamily="50" charset="-94"/>
              </a:rPr>
              <a:t>.</a:t>
            </a:r>
          </a:p>
        </p:txBody>
      </p:sp>
      <p:pic>
        <p:nvPicPr>
          <p:cNvPr id="1026" name="Picture 2" descr="Woman behind laptop Royalty Free Vector Image - VectorStock">
            <a:extLst>
              <a:ext uri="{FF2B5EF4-FFF2-40B4-BE49-F238E27FC236}">
                <a16:creationId xmlns:a16="http://schemas.microsoft.com/office/drawing/2014/main" id="{8E57F560-37A8-4EB2-AEC6-70ACC319DE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5" t="12921" r="4298" b="20809"/>
          <a:stretch/>
        </p:blipFill>
        <p:spPr bwMode="auto">
          <a:xfrm>
            <a:off x="990540" y="2874719"/>
            <a:ext cx="2372173" cy="1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 14">
            <a:extLst>
              <a:ext uri="{FF2B5EF4-FFF2-40B4-BE49-F238E27FC236}">
                <a16:creationId xmlns:a16="http://schemas.microsoft.com/office/drawing/2014/main" id="{FB3BD899-6C11-42C0-8B54-8FA9AD3A101E}"/>
              </a:ext>
            </a:extLst>
          </p:cNvPr>
          <p:cNvGrpSpPr/>
          <p:nvPr/>
        </p:nvGrpSpPr>
        <p:grpSpPr>
          <a:xfrm>
            <a:off x="4866382" y="3559039"/>
            <a:ext cx="3097323" cy="2311418"/>
            <a:chOff x="4903333" y="4101388"/>
            <a:chExt cx="3097323" cy="2311418"/>
          </a:xfrm>
        </p:grpSpPr>
        <p:pic>
          <p:nvPicPr>
            <p:cNvPr id="11" name="Resim 10">
              <a:extLst>
                <a:ext uri="{FF2B5EF4-FFF2-40B4-BE49-F238E27FC236}">
                  <a16:creationId xmlns:a16="http://schemas.microsoft.com/office/drawing/2014/main" id="{304FE2DE-83F9-4688-8EE8-AD677A468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4691" y="4508444"/>
              <a:ext cx="1232281" cy="1904362"/>
            </a:xfrm>
            <a:prstGeom prst="rect">
              <a:avLst/>
            </a:prstGeom>
          </p:spPr>
        </p:pic>
        <p:sp>
          <p:nvSpPr>
            <p:cNvPr id="12" name="Dikdörtgen 11">
              <a:extLst>
                <a:ext uri="{FF2B5EF4-FFF2-40B4-BE49-F238E27FC236}">
                  <a16:creationId xmlns:a16="http://schemas.microsoft.com/office/drawing/2014/main" id="{41E4F057-2386-4680-A2E8-85F7DC22887E}"/>
                </a:ext>
              </a:extLst>
            </p:cNvPr>
            <p:cNvSpPr/>
            <p:nvPr/>
          </p:nvSpPr>
          <p:spPr>
            <a:xfrm>
              <a:off x="4903333" y="4101388"/>
              <a:ext cx="30973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tr-TR" dirty="0">
                  <a:solidFill>
                    <a:schemeClr val="accent1">
                      <a:lumMod val="75000"/>
                    </a:schemeClr>
                  </a:solidFill>
                  <a:latin typeface="Consolas" panose="020B0609020204030204" pitchFamily="49" charset="0"/>
                </a:rPr>
                <a:t>ML_FLOW_TRACKING Server</a:t>
              </a:r>
              <a:endParaRPr lang="tr-TR" dirty="0"/>
            </a:p>
          </p:txBody>
        </p:sp>
      </p:grpSp>
      <p:pic>
        <p:nvPicPr>
          <p:cNvPr id="14" name="Picture 2" descr="Woman behind laptop Royalty Free Vector Image - VectorStock">
            <a:extLst>
              <a:ext uri="{FF2B5EF4-FFF2-40B4-BE49-F238E27FC236}">
                <a16:creationId xmlns:a16="http://schemas.microsoft.com/office/drawing/2014/main" id="{131A9410-B1D1-47A3-9745-94E3DF9A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5" t="12921" r="4298" b="20809"/>
          <a:stretch/>
        </p:blipFill>
        <p:spPr bwMode="auto">
          <a:xfrm>
            <a:off x="9264185" y="2874719"/>
            <a:ext cx="2372173" cy="1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k: Sağ 12">
            <a:extLst>
              <a:ext uri="{FF2B5EF4-FFF2-40B4-BE49-F238E27FC236}">
                <a16:creationId xmlns:a16="http://schemas.microsoft.com/office/drawing/2014/main" id="{74A0CC98-CA67-44CC-B7BF-419490705014}"/>
              </a:ext>
            </a:extLst>
          </p:cNvPr>
          <p:cNvSpPr/>
          <p:nvPr/>
        </p:nvSpPr>
        <p:spPr>
          <a:xfrm rot="1034516">
            <a:off x="3093985" y="4332927"/>
            <a:ext cx="2396836" cy="443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Ok: Sağ 15">
            <a:extLst>
              <a:ext uri="{FF2B5EF4-FFF2-40B4-BE49-F238E27FC236}">
                <a16:creationId xmlns:a16="http://schemas.microsoft.com/office/drawing/2014/main" id="{2454DF1B-8219-478D-9E26-717346C328F1}"/>
              </a:ext>
            </a:extLst>
          </p:cNvPr>
          <p:cNvSpPr/>
          <p:nvPr/>
        </p:nvSpPr>
        <p:spPr>
          <a:xfrm rot="9129051">
            <a:off x="6971095" y="4247610"/>
            <a:ext cx="2396836" cy="443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6FAB75F-E931-4CA5-9B2B-5A97008AAAB3}"/>
              </a:ext>
            </a:extLst>
          </p:cNvPr>
          <p:cNvSpPr/>
          <p:nvPr/>
        </p:nvSpPr>
        <p:spPr>
          <a:xfrm>
            <a:off x="5897476" y="5308016"/>
            <a:ext cx="3185487" cy="120032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Roboto"/>
              </a:rPr>
              <a:t>Entity (Metadata) Store</a:t>
            </a:r>
          </a:p>
          <a:p>
            <a:r>
              <a:rPr lang="en-US" dirty="0" err="1">
                <a:latin typeface="Roboto"/>
              </a:rPr>
              <a:t>FileStore</a:t>
            </a:r>
            <a:r>
              <a:rPr lang="en-US" dirty="0">
                <a:latin typeface="Roboto"/>
              </a:rPr>
              <a:t> (local file system), </a:t>
            </a:r>
          </a:p>
          <a:p>
            <a:r>
              <a:rPr lang="en-US" dirty="0" err="1">
                <a:latin typeface="Roboto"/>
              </a:rPr>
              <a:t>SQLStore</a:t>
            </a:r>
            <a:r>
              <a:rPr lang="en-US" dirty="0">
                <a:latin typeface="Roboto"/>
              </a:rPr>
              <a:t> (</a:t>
            </a:r>
            <a:r>
              <a:rPr lang="en-US" dirty="0" err="1">
                <a:latin typeface="Roboto"/>
              </a:rPr>
              <a:t>SQLAlchemy</a:t>
            </a:r>
            <a:r>
              <a:rPr lang="en-US" dirty="0">
                <a:latin typeface="Roboto"/>
              </a:rPr>
              <a:t> </a:t>
            </a:r>
            <a:r>
              <a:rPr lang="en-US" dirty="0" err="1">
                <a:latin typeface="Roboto"/>
              </a:rPr>
              <a:t>ile</a:t>
            </a:r>
            <a:r>
              <a:rPr lang="en-US" dirty="0">
                <a:latin typeface="Roboto"/>
              </a:rPr>
              <a:t>), </a:t>
            </a:r>
          </a:p>
          <a:p>
            <a:r>
              <a:rPr lang="en-US" dirty="0">
                <a:latin typeface="Roboto"/>
              </a:rPr>
              <a:t>REST Store</a:t>
            </a:r>
            <a:endParaRPr lang="en-US" dirty="0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4DF9877F-05F1-41DF-B49A-88954F840C8F}"/>
              </a:ext>
            </a:extLst>
          </p:cNvPr>
          <p:cNvSpPr/>
          <p:nvPr/>
        </p:nvSpPr>
        <p:spPr>
          <a:xfrm>
            <a:off x="9318829" y="5170558"/>
            <a:ext cx="2111347" cy="156966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1600" b="1" u="sng" dirty="0">
                <a:solidFill>
                  <a:schemeClr val="accent1">
                    <a:lumMod val="75000"/>
                  </a:schemeClr>
                </a:solidFill>
                <a:latin typeface="Roboto"/>
              </a:rPr>
              <a:t>Artifact Store</a:t>
            </a:r>
          </a:p>
          <a:p>
            <a:r>
              <a:rPr lang="en-US" sz="1600" dirty="0">
                <a:hlinkClick r:id="rId4"/>
              </a:rPr>
              <a:t>Amazon S3</a:t>
            </a:r>
            <a:endParaRPr lang="en-US" sz="1600" dirty="0"/>
          </a:p>
          <a:p>
            <a:r>
              <a:rPr lang="en-US" sz="1600" dirty="0">
                <a:hlinkClick r:id="rId5"/>
              </a:rPr>
              <a:t>Azure Blob Storage</a:t>
            </a:r>
            <a:endParaRPr lang="en-US" sz="1600" dirty="0"/>
          </a:p>
          <a:p>
            <a:r>
              <a:rPr lang="en-US" sz="1600" dirty="0">
                <a:hlinkClick r:id="rId6"/>
              </a:rPr>
              <a:t>Google Cloud Storage</a:t>
            </a:r>
            <a:endParaRPr lang="en-US" sz="1600" dirty="0"/>
          </a:p>
          <a:p>
            <a:r>
              <a:rPr lang="en-US" sz="1600" dirty="0">
                <a:hlinkClick r:id="rId7"/>
              </a:rPr>
              <a:t>FTP server</a:t>
            </a:r>
            <a:r>
              <a:rPr lang="en-US" sz="1600" dirty="0"/>
              <a:t>, </a:t>
            </a:r>
            <a:r>
              <a:rPr lang="en-US" sz="1600" dirty="0">
                <a:hlinkClick r:id="rId8"/>
              </a:rPr>
              <a:t>SFTP Server</a:t>
            </a:r>
            <a:endParaRPr lang="en-US" sz="1600" dirty="0"/>
          </a:p>
          <a:p>
            <a:r>
              <a:rPr lang="en-US" sz="1600" dirty="0">
                <a:hlinkClick r:id="rId9"/>
              </a:rPr>
              <a:t>NFS</a:t>
            </a:r>
            <a:r>
              <a:rPr lang="en-US" sz="1600" dirty="0"/>
              <a:t>, </a:t>
            </a:r>
            <a:r>
              <a:rPr lang="en-US" sz="1600" dirty="0">
                <a:hlinkClick r:id="rId10"/>
              </a:rPr>
              <a:t>HDFS</a:t>
            </a:r>
            <a:endParaRPr lang="en-US" sz="1600" dirty="0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A2D6A9D8-9932-47F7-A344-B9166024D5B6}"/>
              </a:ext>
            </a:extLst>
          </p:cNvPr>
          <p:cNvSpPr txBox="1"/>
          <p:nvPr/>
        </p:nvSpPr>
        <p:spPr>
          <a:xfrm>
            <a:off x="18116" y="4984751"/>
            <a:ext cx="579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mlflow</a:t>
            </a:r>
            <a:r>
              <a:rPr lang="en-US" sz="1400" dirty="0">
                <a:latin typeface="Consolas" panose="020B0609020204030204" pitchFamily="49" charset="0"/>
              </a:rPr>
              <a:t> server \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--backend-store-</a:t>
            </a:r>
            <a:r>
              <a:rPr lang="en-US" sz="1400" dirty="0" err="1">
                <a:latin typeface="Consolas" panose="020B0609020204030204" pitchFamily="49" charset="0"/>
              </a:rPr>
              <a:t>uri</a:t>
            </a:r>
            <a:r>
              <a:rPr lang="en-US" sz="1400" dirty="0">
                <a:latin typeface="Consolas" panose="020B0609020204030204" pitchFamily="49" charset="0"/>
              </a:rPr>
              <a:t> /</a:t>
            </a:r>
            <a:r>
              <a:rPr lang="en-US" sz="1400" dirty="0" err="1">
                <a:latin typeface="Consolas" panose="020B0609020204030204" pitchFamily="49" charset="0"/>
              </a:rPr>
              <a:t>mnt</a:t>
            </a:r>
            <a:r>
              <a:rPr lang="en-US" sz="1400" dirty="0">
                <a:latin typeface="Consolas" panose="020B0609020204030204" pitchFamily="49" charset="0"/>
              </a:rPr>
              <a:t>/persistent-disk \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--default-artifact-root s3://my-mlflow-bucket/ \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--host 0.0.0.0</a:t>
            </a: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2D47A75E-6F2B-4E0B-AA9B-B260AD419978}"/>
              </a:ext>
            </a:extLst>
          </p:cNvPr>
          <p:cNvCxnSpPr>
            <a:cxnSpLocks/>
          </p:cNvCxnSpPr>
          <p:nvPr/>
        </p:nvCxnSpPr>
        <p:spPr>
          <a:xfrm>
            <a:off x="2361363" y="5406013"/>
            <a:ext cx="3928905" cy="291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A37BFF45-AB11-4746-A2B6-2D8C65B00DB8}"/>
              </a:ext>
            </a:extLst>
          </p:cNvPr>
          <p:cNvCxnSpPr>
            <a:cxnSpLocks/>
          </p:cNvCxnSpPr>
          <p:nvPr/>
        </p:nvCxnSpPr>
        <p:spPr>
          <a:xfrm>
            <a:off x="2642716" y="5576835"/>
            <a:ext cx="6893170" cy="120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15294D8D-54A7-4D84-87FE-C7B8D52DE2F2}"/>
              </a:ext>
            </a:extLst>
          </p:cNvPr>
          <p:cNvCxnSpPr>
            <a:cxnSpLocks/>
          </p:cNvCxnSpPr>
          <p:nvPr/>
        </p:nvCxnSpPr>
        <p:spPr>
          <a:xfrm flipV="1">
            <a:off x="1889090" y="4582049"/>
            <a:ext cx="4008386" cy="11958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201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6FEA3D8C-3FB7-4511-96E3-073EBD337C2D}"/>
              </a:ext>
            </a:extLst>
          </p:cNvPr>
          <p:cNvSpPr txBox="1"/>
          <p:nvPr/>
        </p:nvSpPr>
        <p:spPr>
          <a:xfrm>
            <a:off x="1861651" y="198333"/>
            <a:ext cx="8694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b="1" dirty="0">
                <a:solidFill>
                  <a:srgbClr val="FF0000"/>
                </a:solidFill>
                <a:latin typeface="Roboto"/>
              </a:rPr>
              <a:t>1</a:t>
            </a:r>
            <a:r>
              <a:rPr lang="tr-TR" sz="3200" b="1" dirty="0">
                <a:solidFill>
                  <a:srgbClr val="FF4D4D"/>
                </a:solidFill>
                <a:latin typeface="Chromatica" panose="00000500000000000000" pitchFamily="50" charset="-94"/>
              </a:rPr>
              <a:t>. MLflow Tracking </a:t>
            </a:r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</a:rPr>
              <a:t>Our Architecture</a:t>
            </a:r>
            <a:endParaRPr lang="tr-TR" sz="3200" b="1" dirty="0">
              <a:solidFill>
                <a:srgbClr val="FF4D4D"/>
              </a:solidFill>
              <a:latin typeface="Chromatica" panose="00000500000000000000" pitchFamily="50" charset="-94"/>
            </a:endParaRPr>
          </a:p>
        </p:txBody>
      </p:sp>
      <p:pic>
        <p:nvPicPr>
          <p:cNvPr id="1026" name="Picture 2" descr="Woman behind laptop Royalty Free Vector Image - VectorStock">
            <a:extLst>
              <a:ext uri="{FF2B5EF4-FFF2-40B4-BE49-F238E27FC236}">
                <a16:creationId xmlns:a16="http://schemas.microsoft.com/office/drawing/2014/main" id="{8E57F560-37A8-4EB2-AEC6-70ACC319DE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5" t="12921" r="4298" b="20809"/>
          <a:stretch/>
        </p:blipFill>
        <p:spPr bwMode="auto">
          <a:xfrm>
            <a:off x="784358" y="777443"/>
            <a:ext cx="2372173" cy="1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 14">
            <a:extLst>
              <a:ext uri="{FF2B5EF4-FFF2-40B4-BE49-F238E27FC236}">
                <a16:creationId xmlns:a16="http://schemas.microsoft.com/office/drawing/2014/main" id="{FB3BD899-6C11-42C0-8B54-8FA9AD3A101E}"/>
              </a:ext>
            </a:extLst>
          </p:cNvPr>
          <p:cNvGrpSpPr/>
          <p:nvPr/>
        </p:nvGrpSpPr>
        <p:grpSpPr>
          <a:xfrm>
            <a:off x="4660200" y="1461763"/>
            <a:ext cx="3097323" cy="2311418"/>
            <a:chOff x="4903333" y="4101388"/>
            <a:chExt cx="3097323" cy="2311418"/>
          </a:xfrm>
        </p:grpSpPr>
        <p:pic>
          <p:nvPicPr>
            <p:cNvPr id="11" name="Resim 10">
              <a:extLst>
                <a:ext uri="{FF2B5EF4-FFF2-40B4-BE49-F238E27FC236}">
                  <a16:creationId xmlns:a16="http://schemas.microsoft.com/office/drawing/2014/main" id="{304FE2DE-83F9-4688-8EE8-AD677A468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4691" y="4508444"/>
              <a:ext cx="1232281" cy="1904362"/>
            </a:xfrm>
            <a:prstGeom prst="rect">
              <a:avLst/>
            </a:prstGeom>
          </p:spPr>
        </p:pic>
        <p:sp>
          <p:nvSpPr>
            <p:cNvPr id="12" name="Dikdörtgen 11">
              <a:extLst>
                <a:ext uri="{FF2B5EF4-FFF2-40B4-BE49-F238E27FC236}">
                  <a16:creationId xmlns:a16="http://schemas.microsoft.com/office/drawing/2014/main" id="{41E4F057-2386-4680-A2E8-85F7DC22887E}"/>
                </a:ext>
              </a:extLst>
            </p:cNvPr>
            <p:cNvSpPr/>
            <p:nvPr/>
          </p:nvSpPr>
          <p:spPr>
            <a:xfrm>
              <a:off x="4903333" y="4101388"/>
              <a:ext cx="30973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tr-TR" dirty="0">
                  <a:solidFill>
                    <a:schemeClr val="accent1">
                      <a:lumMod val="75000"/>
                    </a:schemeClr>
                  </a:solidFill>
                  <a:latin typeface="Consolas" panose="020B0609020204030204" pitchFamily="49" charset="0"/>
                </a:rPr>
                <a:t>ML_FLOW_TRACKING Server</a:t>
              </a:r>
              <a:endParaRPr lang="tr-TR" dirty="0"/>
            </a:p>
          </p:txBody>
        </p:sp>
      </p:grpSp>
      <p:pic>
        <p:nvPicPr>
          <p:cNvPr id="14" name="Picture 2" descr="Woman behind laptop Royalty Free Vector Image - VectorStock">
            <a:extLst>
              <a:ext uri="{FF2B5EF4-FFF2-40B4-BE49-F238E27FC236}">
                <a16:creationId xmlns:a16="http://schemas.microsoft.com/office/drawing/2014/main" id="{131A9410-B1D1-47A3-9745-94E3DF9A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5" t="12921" r="4298" b="20809"/>
          <a:stretch/>
        </p:blipFill>
        <p:spPr bwMode="auto">
          <a:xfrm>
            <a:off x="9058003" y="777443"/>
            <a:ext cx="2372173" cy="1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k: Sağ 12">
            <a:extLst>
              <a:ext uri="{FF2B5EF4-FFF2-40B4-BE49-F238E27FC236}">
                <a16:creationId xmlns:a16="http://schemas.microsoft.com/office/drawing/2014/main" id="{74A0CC98-CA67-44CC-B7BF-419490705014}"/>
              </a:ext>
            </a:extLst>
          </p:cNvPr>
          <p:cNvSpPr/>
          <p:nvPr/>
        </p:nvSpPr>
        <p:spPr>
          <a:xfrm rot="1034516">
            <a:off x="2887803" y="2235651"/>
            <a:ext cx="2396836" cy="443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Ok: Sağ 15">
            <a:extLst>
              <a:ext uri="{FF2B5EF4-FFF2-40B4-BE49-F238E27FC236}">
                <a16:creationId xmlns:a16="http://schemas.microsoft.com/office/drawing/2014/main" id="{2454DF1B-8219-478D-9E26-717346C328F1}"/>
              </a:ext>
            </a:extLst>
          </p:cNvPr>
          <p:cNvSpPr/>
          <p:nvPr/>
        </p:nvSpPr>
        <p:spPr>
          <a:xfrm rot="9129051">
            <a:off x="6764913" y="2150334"/>
            <a:ext cx="2396836" cy="443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70BB2D73-EEC4-4A14-A34E-A81E84AEF44E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 flipH="1">
            <a:off x="4285604" y="3773181"/>
            <a:ext cx="1722095" cy="3572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17810461-E635-461E-8B3A-3C5D369C3AC9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>
            <a:off x="6007699" y="3773181"/>
            <a:ext cx="2149813" cy="388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Grup 2">
            <a:extLst>
              <a:ext uri="{FF2B5EF4-FFF2-40B4-BE49-F238E27FC236}">
                <a16:creationId xmlns:a16="http://schemas.microsoft.com/office/drawing/2014/main" id="{DF28A3BB-0EF5-4E19-92EC-4F0687DBD5C6}"/>
              </a:ext>
            </a:extLst>
          </p:cNvPr>
          <p:cNvGrpSpPr/>
          <p:nvPr/>
        </p:nvGrpSpPr>
        <p:grpSpPr>
          <a:xfrm>
            <a:off x="7334209" y="4161812"/>
            <a:ext cx="1646605" cy="1734472"/>
            <a:chOff x="7334209" y="4161812"/>
            <a:chExt cx="1646605" cy="1734472"/>
          </a:xfrm>
        </p:grpSpPr>
        <p:sp>
          <p:nvSpPr>
            <p:cNvPr id="20" name="Dikdörtgen 19">
              <a:extLst>
                <a:ext uri="{FF2B5EF4-FFF2-40B4-BE49-F238E27FC236}">
                  <a16:creationId xmlns:a16="http://schemas.microsoft.com/office/drawing/2014/main" id="{4DF9877F-05F1-41DF-B49A-88954F840C8F}"/>
                </a:ext>
              </a:extLst>
            </p:cNvPr>
            <p:cNvSpPr/>
            <p:nvPr/>
          </p:nvSpPr>
          <p:spPr>
            <a:xfrm>
              <a:off x="7334209" y="4161812"/>
              <a:ext cx="164660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r>
                <a:rPr lang="en-US" b="1" u="sng" dirty="0">
                  <a:solidFill>
                    <a:schemeClr val="accent1">
                      <a:lumMod val="75000"/>
                    </a:schemeClr>
                  </a:solidFill>
                  <a:latin typeface="Roboto"/>
                </a:rPr>
                <a:t>Artifact Store</a:t>
              </a:r>
            </a:p>
          </p:txBody>
        </p:sp>
        <p:pic>
          <p:nvPicPr>
            <p:cNvPr id="2" name="Picture 2" descr="Global storage infrastructure for major non-profit organization -  iSoftStone - IT Services, Software Consulting, Accessibility Consulting">
              <a:extLst>
                <a:ext uri="{FF2B5EF4-FFF2-40B4-BE49-F238E27FC236}">
                  <a16:creationId xmlns:a16="http://schemas.microsoft.com/office/drawing/2014/main" id="{A5BEEB54-B947-410A-80FD-08C0334D00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2375" y="4587371"/>
              <a:ext cx="1308913" cy="1308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up 7">
            <a:extLst>
              <a:ext uri="{FF2B5EF4-FFF2-40B4-BE49-F238E27FC236}">
                <a16:creationId xmlns:a16="http://schemas.microsoft.com/office/drawing/2014/main" id="{E9285E38-61D3-477D-87F4-9616D806F51E}"/>
              </a:ext>
            </a:extLst>
          </p:cNvPr>
          <p:cNvGrpSpPr/>
          <p:nvPr/>
        </p:nvGrpSpPr>
        <p:grpSpPr>
          <a:xfrm>
            <a:off x="2936516" y="4130402"/>
            <a:ext cx="2698175" cy="2044588"/>
            <a:chOff x="2936516" y="4130402"/>
            <a:chExt cx="2698175" cy="2044588"/>
          </a:xfrm>
        </p:grpSpPr>
        <p:sp>
          <p:nvSpPr>
            <p:cNvPr id="18" name="Dikdörtgen 17">
              <a:extLst>
                <a:ext uri="{FF2B5EF4-FFF2-40B4-BE49-F238E27FC236}">
                  <a16:creationId xmlns:a16="http://schemas.microsoft.com/office/drawing/2014/main" id="{B6FAB75F-E931-4CA5-9B2B-5A97008AAAB3}"/>
                </a:ext>
              </a:extLst>
            </p:cNvPr>
            <p:cNvSpPr/>
            <p:nvPr/>
          </p:nvSpPr>
          <p:spPr>
            <a:xfrm>
              <a:off x="2936516" y="4130402"/>
              <a:ext cx="269817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r>
                <a:rPr lang="tr-TR" b="1" u="sng" dirty="0">
                  <a:solidFill>
                    <a:schemeClr val="accent1">
                      <a:lumMod val="75000"/>
                    </a:schemeClr>
                  </a:solidFill>
                  <a:latin typeface="Roboto"/>
                </a:rPr>
                <a:t>Entity (Metadata) Store</a:t>
              </a:r>
            </a:p>
          </p:txBody>
        </p:sp>
        <p:pic>
          <p:nvPicPr>
            <p:cNvPr id="1030" name="Picture 6" descr="Php Mysql, Background Mysql Logo Transparent, mysql logo transparent,logo  transparent png | Pngbyte">
              <a:extLst>
                <a:ext uri="{FF2B5EF4-FFF2-40B4-BE49-F238E27FC236}">
                  <a16:creationId xmlns:a16="http://schemas.microsoft.com/office/drawing/2014/main" id="{E93FD6C7-8E9F-4168-BD88-AD0B8620F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739" y="4617484"/>
              <a:ext cx="1517051" cy="1557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64943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tr-TR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2</a:t>
            </a:r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. Model and Prompt Registry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386721" y="811273"/>
            <a:ext cx="5544379" cy="512467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 systematic approach to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model management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, the Model Registry assists in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handling different versions of models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, discerning their current state, and ensuring smooth productionization. 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It offers a 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centralized model store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, APIs, and UI to collaboratively manage an MLflow Model’s full lifecycle, including model lineage, versioning, aliasing, tagging, and annotations.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Version, compare, alias prompts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400" dirty="0" err="1">
                <a:solidFill>
                  <a:srgbClr val="404041"/>
                </a:solidFill>
                <a:latin typeface="Chromatica" panose="00000500000000000000" pitchFamily="50" charset="-94"/>
              </a:rPr>
              <a:t>Prevent</a:t>
            </a:r>
            <a:r>
              <a:rPr lang="fr-FR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 prompt drift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76C89-B0FE-5BE8-D10F-F9CDDF76A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048" y="869576"/>
            <a:ext cx="5729230" cy="3778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54821-5894-8067-D19D-ED584A22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84" y="4581398"/>
            <a:ext cx="3923558" cy="214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908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8EBE-84D9-9CB1-A927-CDCA0CEA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2AF84947-7B60-DFD7-FB80-80D4B984B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tr-TR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3</a:t>
            </a:r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. Tracing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5BD41571-CBB7-FA13-44BA-A771128D848F}"/>
              </a:ext>
            </a:extLst>
          </p:cNvPr>
          <p:cNvSpPr txBox="1"/>
          <p:nvPr/>
        </p:nvSpPr>
        <p:spPr>
          <a:xfrm>
            <a:off x="657224" y="869576"/>
            <a:ext cx="10437496" cy="196329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LLM calls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Tool calls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Agent workflows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Nested traces</a:t>
            </a:r>
          </a:p>
        </p:txBody>
      </p:sp>
    </p:spTree>
    <p:extLst>
      <p:ext uri="{BB962C8B-B14F-4D97-AF65-F5344CB8AC3E}">
        <p14:creationId xmlns:p14="http://schemas.microsoft.com/office/powerpoint/2010/main" val="34458257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584B-0338-4910-80D7-B2FBDBE5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FB1C6F12-7DA2-5AE2-DF98-966E33FB1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4. Evaluation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436EB4F4-592E-96FC-A0AA-F7B00EA06D30}"/>
              </a:ext>
            </a:extLst>
          </p:cNvPr>
          <p:cNvSpPr txBox="1"/>
          <p:nvPr/>
        </p:nvSpPr>
        <p:spPr>
          <a:xfrm>
            <a:off x="657224" y="869576"/>
            <a:ext cx="10437496" cy="14655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 err="1">
                <a:solidFill>
                  <a:srgbClr val="404041"/>
                </a:solidFill>
                <a:latin typeface="Chromatica" panose="00000500000000000000" pitchFamily="50" charset="-94"/>
              </a:rPr>
              <a:t>mlflow.evaluate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()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LLM judges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Per-row evaluation</a:t>
            </a:r>
          </a:p>
        </p:txBody>
      </p:sp>
    </p:spTree>
    <p:extLst>
      <p:ext uri="{BB962C8B-B14F-4D97-AF65-F5344CB8AC3E}">
        <p14:creationId xmlns:p14="http://schemas.microsoft.com/office/powerpoint/2010/main" val="1819308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641" y="321618"/>
            <a:ext cx="8555876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5. MLflow Deployments for LLMs and AI Gateway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657224" y="869576"/>
            <a:ext cx="10437496" cy="355507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This server, equipped with a set of standardized APIs, streamlines access to both SaaS and OSS LLM models. 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It serves as a unified interface, bolstering security through authenticated access, and offers a common set of APIs for prominent LLMs.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 major advantage of using the MLflow AI Gateway is its centralized management of API keys. 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MLflow AI Gateway (</a:t>
            </a:r>
            <a:r>
              <a:rPr lang="en-US" sz="2400" b="1" dirty="0">
                <a:solidFill>
                  <a:srgbClr val="404041"/>
                </a:solidFill>
                <a:latin typeface="Chromatica" panose="00000500000000000000" pitchFamily="50" charset="-94"/>
              </a:rPr>
              <a:t>Experimental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5786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:a16="http://schemas.microsoft.com/office/drawing/2014/main" id="{CE0065EA-3A9A-4683-8EB7-A77F76C47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483" y="321618"/>
            <a:ext cx="7591033" cy="54795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6. </a:t>
            </a:r>
            <a:r>
              <a:rPr lang="tr-TR" sz="3200" b="1" dirty="0">
                <a:solidFill>
                  <a:srgbClr val="FF4D4D"/>
                </a:solidFill>
                <a:latin typeface="Chromatica" panose="00000500000000000000" pitchFamily="50" charset="-94"/>
                <a:ea typeface="+mn-ea"/>
                <a:cs typeface="+mn-cs"/>
              </a:rPr>
              <a:t>Evaluate</a:t>
            </a:r>
            <a:endParaRPr lang="en-US" sz="3200" b="1" dirty="0">
              <a:solidFill>
                <a:srgbClr val="FF4D4D"/>
              </a:solidFill>
              <a:latin typeface="Chromatica" panose="00000500000000000000" pitchFamily="50" charset="-94"/>
              <a:ea typeface="+mn-ea"/>
              <a:cs typeface="+mn-cs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00E41A7-64CA-40A9-841A-53FCC2913D66}"/>
              </a:ext>
            </a:extLst>
          </p:cNvPr>
          <p:cNvSpPr txBox="1"/>
          <p:nvPr/>
        </p:nvSpPr>
        <p:spPr>
          <a:xfrm>
            <a:off x="657224" y="869576"/>
            <a:ext cx="10437496" cy="424282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After building and training your MLflow Model, you can use the </a:t>
            </a:r>
            <a:r>
              <a:rPr lang="en-US" sz="2400" dirty="0" err="1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mlflow.evaluate</a:t>
            </a:r>
            <a:r>
              <a:rPr lang="en-US" sz="2400" dirty="0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API to evaluate its performance on one or more datasets of your choosing. 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 err="1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mlflow.evaluate</a:t>
            </a:r>
            <a:r>
              <a:rPr lang="en-US" sz="2400" dirty="0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currently supports evaluation of MLflow Models with the </a:t>
            </a:r>
            <a:r>
              <a:rPr lang="en-US" sz="2400" dirty="0" err="1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python_function</a:t>
            </a:r>
            <a:r>
              <a:rPr lang="en-US" sz="2400" dirty="0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dirty="0" err="1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pyfunc</a:t>
            </a:r>
            <a:r>
              <a:rPr lang="en-US" sz="2400" dirty="0">
                <a:solidFill>
                  <a:srgbClr val="40404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model flavor for classification, regression, and numerous language modeling tasks (see Evaluating with LLMs), computing a variety of task-specific performance metrics, model performance plots, and model explanations. </a:t>
            </a:r>
            <a:endParaRPr lang="tr-TR" sz="2400" dirty="0">
              <a:solidFill>
                <a:srgbClr val="404041"/>
              </a:solidFill>
              <a:latin typeface="Chromatica" panose="00000500000000000000" pitchFamily="50" charset="-94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1"/>
                </a:solidFill>
                <a:latin typeface="Chromatica" panose="00000500000000000000" pitchFamily="50" charset="-94"/>
              </a:rPr>
              <a:t>Evaluation results are logged to MLflow Tracking.</a:t>
            </a:r>
          </a:p>
        </p:txBody>
      </p:sp>
    </p:spTree>
    <p:extLst>
      <p:ext uri="{BB962C8B-B14F-4D97-AF65-F5344CB8AC3E}">
        <p14:creationId xmlns:p14="http://schemas.microsoft.com/office/powerpoint/2010/main" val="450878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6831</TotalTime>
  <Words>1112</Words>
  <Application>Microsoft Office PowerPoint</Application>
  <PresentationFormat>Widescreen</PresentationFormat>
  <Paragraphs>144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Chromatica</vt:lpstr>
      <vt:lpstr>Consolas</vt:lpstr>
      <vt:lpstr>Courier New</vt:lpstr>
      <vt:lpstr>Roboto</vt:lpstr>
      <vt:lpstr>Source Sans Pro</vt:lpstr>
      <vt:lpstr>Wingdings</vt:lpstr>
      <vt:lpstr>Office Teması</vt:lpstr>
      <vt:lpstr>PowerPoint Presentation</vt:lpstr>
      <vt:lpstr>Challenges of ML/AI Things</vt:lpstr>
      <vt:lpstr>ML/AI Development Challenges (Classic + GenAI)</vt:lpstr>
      <vt:lpstr>Challenges of ML Things</vt:lpstr>
      <vt:lpstr>Challenges of ML Things</vt:lpstr>
      <vt:lpstr>Challenges of ML Things</vt:lpstr>
      <vt:lpstr>Challenges of ML Things</vt:lpstr>
      <vt:lpstr>Challenges of ML Things</vt:lpstr>
      <vt:lpstr>Challenges of ML Things</vt:lpstr>
      <vt:lpstr>MLflow Overview</vt:lpstr>
      <vt:lpstr>MLflow Overview</vt:lpstr>
      <vt:lpstr>MLflow Core Components</vt:lpstr>
      <vt:lpstr>1. Tracking</vt:lpstr>
      <vt:lpstr>PowerPoint Presentation</vt:lpstr>
      <vt:lpstr>PowerPoint Presentation</vt:lpstr>
      <vt:lpstr>2. Model and Prompt Registry</vt:lpstr>
      <vt:lpstr>3. Tracing</vt:lpstr>
      <vt:lpstr>4. Evaluation</vt:lpstr>
      <vt:lpstr>5. MLflow Deployments for LLMs and AI Gateway</vt:lpstr>
      <vt:lpstr>6. Evaluate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ile Makine Öğrenmesi</dc:title>
  <dc:creator>Erkan ŞİRİN</dc:creator>
  <cp:lastModifiedBy>Erkan ŞİRİN</cp:lastModifiedBy>
  <cp:revision>286</cp:revision>
  <dcterms:created xsi:type="dcterms:W3CDTF">2019-03-16T06:56:25Z</dcterms:created>
  <dcterms:modified xsi:type="dcterms:W3CDTF">2025-11-29T12:24:27Z</dcterms:modified>
</cp:coreProperties>
</file>